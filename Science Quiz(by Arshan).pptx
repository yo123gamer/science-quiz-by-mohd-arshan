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tableStyles" Target="tableStyles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5043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5043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5043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5043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5043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"1.0" encoding="UTF-8" standalone="yes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"1.0" encoding="UTF-8" standalone="yes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"1.0" encoding="UTF-8" standalone="yes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"1.0" encoding="UTF-8" standalone="yes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"1.0" encoding="UTF-8" standalone="yes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"1.0" encoding="UTF-8" standalone="yes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"1.0" encoding="UTF-8" standalone="yes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"1.0" encoding="UTF-8" standalone="yes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"1.0" encoding="UTF-8" standalone="yes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7.xml.rels><?xml version="1.0" encoding="UTF-8" standalone="yes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8.xml.rels><?xml version="1.0" encoding="UTF-8" standalone="yes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9.xml.rels><?xml version="1.0" encoding="UTF-8" standalone="yes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60.xml.rels><?xml version="1.0" encoding="UTF-8" standalone="yes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61.xml.rels><?xml version="1.0" encoding="UTF-8" standalone="yes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62.xml.rels><?xml version="1.0" encoding="UTF-8" standalone="yes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63.xml.rels><?xml version="1.0" encoding="UTF-8" standalone="yes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64.xml.rels><?xml version="1.0" encoding="UTF-8" standalone="yes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6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67.xml.rels><?xml version="1.0" encoding="UTF-8" standalone="yes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68.xml.rels><?xml version="1.0" encoding="UTF-8" standalone="yes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69.xml.rels><?xml version="1.0" encoding="UTF-8" standalone="yes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_rels/notesSlide70.xml.rels><?xml version="1.0" encoding="UTF-8" standalone="yes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71.xml.rels><?xml version="1.0" encoding="UTF-8" standalone="yes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72.xml.rels><?xml version="1.0" encoding="UTF-8" standalone="yes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73.xml.rels><?xml version="1.0" encoding="UTF-8" standalone="yes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74.xml.rels><?xml version="1.0" encoding="UTF-8" standalone="yes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75.xml.rels><?xml version="1.0" encoding="UTF-8" standalone="yes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</Relationships>
</file>

<file path=ppt/notesSlides/_rels/notesSlide76.xml.rels><?xml version="1.0" encoding="UTF-8" standalone="yes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_rels/notesSlide7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78.xml.rels><?xml version="1.0" encoding="UTF-8" standalone="yes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_rels/notesSlide79.xml.rels><?xml version="1.0" encoding="UTF-8" standalone="yes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</file>

<file path=ppt/notesSlides/_rels/notesSlide80.xml.rels><?xml version="1.0" encoding="UTF-8" standalone="yes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</file>

<file path=ppt/notesSlides/_rels/notesSlide81.xml.rels><?xml version="1.0" encoding="UTF-8" standalone="yes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</Relationships>
</file>

<file path=ppt/notesSlides/_rels/notesSlide82.xml.rels><?xml version="1.0" encoding="UTF-8" standalone="yes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</Relationships>
</file>

<file path=ppt/notesSlides/_rels/notesSlide83.xml.rels><?xml version="1.0" encoding="UTF-8" standalone="yes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</Relationships>
</file>

<file path=ppt/notesSlides/_rels/notesSlide84.xml.rels><?xml version="1.0" encoding="UTF-8" standalone="yes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</Relationships>
</file>

<file path=ppt/notesSlides/_rels/notesSlide85.xml.rels><?xml version="1.0" encoding="UTF-8" standalone="yes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</Relationships>
</file>

<file path=ppt/notesSlides/_rels/notesSlide86.xml.rels><?xml version="1.0" encoding="UTF-8" standalone="yes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</Relationships>
</file>

<file path=ppt/notesSlides/_rels/notesSlide87.xml.rels><?xml version="1.0" encoding="UTF-8" standalone="yes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</Relationships>
</file>

<file path=ppt/notesSlides/_rels/notesSlide8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</Relationships>
</file>

<file path=ppt/notesSlides/_rels/notesSlide89.xml.rels><?xml version="1.0" encoding="UTF-8" standalone="yes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</Relationships>
</file>

<file path=ppt/notesSlides/_rels/notesSlide90.xml.rels><?xml version="1.0" encoding="UTF-8" standalone="yes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</Relationships>
</file>

<file path=ppt/notesSlides/_rels/notesSlide91.xml.rels><?xml version="1.0" encoding="UTF-8" standalone="yes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</Relationships>
</file>

<file path=ppt/notesSlides/_rels/notesSlide92.xml.rels><?xml version="1.0" encoding="UTF-8" standalone="yes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</Relationships>
</file>

<file path=ppt/notesSlides/_rels/notesSlide93.xml.rels><?xml version="1.0" encoding="UTF-8" standalone="yes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</Relationships>
</file>

<file path=ppt/notesSlides/_rels/notesSlide94.xml.rels><?xml version="1.0" encoding="UTF-8" standalone="yes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</Relationships>
</file>

<file path=ppt/notesSlides/_rels/notesSlide95.xml.rels><?xml version="1.0" encoding="UTF-8" standalone="yes"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</Relationships>
</file>

<file path=ppt/notesSlides/_rels/notesSlide96.xml.rels><?xml version="1.0" encoding="UTF-8" standalone="yes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</Relationships>
</file>

<file path=ppt/notesSlides/_rels/notesSlide97.xml.rels><?xml version="1.0" encoding="UTF-8" standalone="yes"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</Relationships>
</file>

<file path=ppt/notesSlides/_rels/notesSlide98.xml.rels><?xml version="1.0" encoding="UTF-8" standalone="yes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</Relationships>
</file>

<file path=ppt/notesSlides/_rels/notesSlide9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</Relationships>
</file>

<file path=ppt/notesSlides/_rels/notesSlide10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</Relationships>
</file>

<file path=ppt/notesSlides/_rels/notesSlide10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4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6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7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0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0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4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0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0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2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2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4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2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2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2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4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4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3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4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4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3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43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4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5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45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45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6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4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4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4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4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5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5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5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5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5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5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6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5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5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5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5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6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1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6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6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4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64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6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5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6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6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7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6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67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6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6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1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7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7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2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7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7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5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7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7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7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7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7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7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0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8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8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2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8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8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3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8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8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6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8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8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8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8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9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90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90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1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9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9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9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9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5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9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9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9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9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8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9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9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1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0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0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2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02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0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4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04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0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6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0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0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0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0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9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0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1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2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1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1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3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13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1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5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1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1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7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17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17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1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1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2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2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3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23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2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4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2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2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6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2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2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2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2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3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3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2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32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3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3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3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5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35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35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3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3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9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3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3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1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4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4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4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504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2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7406640" y="-1188720"/>
            <a:ext cx="2926080" cy="2926080"/>
          </a:xfrm>
          <a:prstGeom prst="ellipse"/>
          <a:solidFill>
            <a:srgbClr val="028090">
              <a:alpha val="60000"/>
            </a:srgbClr>
          </a:solidFill>
        </p:spPr>
      </p:sp>
      <p:sp>
        <p:nvSpPr>
          <p:cNvPr id="1048577" name="Shape 1"/>
          <p:cNvSpPr/>
          <p:nvPr/>
        </p:nvSpPr>
        <p:spPr>
          <a:xfrm>
            <a:off x="-1005840" y="3566160"/>
            <a:ext cx="2377440" cy="2377440"/>
          </a:xfrm>
          <a:prstGeom prst="ellipse"/>
          <a:solidFill>
            <a:srgbClr val="00A896">
              <a:alpha val="45000"/>
            </a:srgbClr>
          </a:solidFill>
        </p:spPr>
      </p:sp>
      <p:sp>
        <p:nvSpPr>
          <p:cNvPr id="1048578" name="Text 2"/>
          <p:cNvSpPr/>
          <p:nvPr/>
        </p:nvSpPr>
        <p:spPr>
          <a:xfrm>
            <a:off x="640080" y="1417320"/>
            <a:ext cx="78638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kern="0" lang="en-US" spc="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QUIZ</a:t>
            </a:r>
            <a:endParaRPr dirty="0" sz="1400" lang="en-US"/>
          </a:p>
        </p:txBody>
      </p:sp>
      <p:sp>
        <p:nvSpPr>
          <p:cNvPr id="1048579" name="Text 3"/>
          <p:cNvSpPr/>
          <p:nvPr/>
        </p:nvSpPr>
        <p:spPr>
          <a:xfrm>
            <a:off x="640080" y="1783080"/>
            <a:ext cx="8046720" cy="1371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Body: Tissues, Bones &amp; Blood</a:t>
            </a:r>
            <a:endParaRPr dirty="0" sz="3800" lang="en-US"/>
          </a:p>
        </p:txBody>
      </p:sp>
      <p:sp>
        <p:nvSpPr>
          <p:cNvPr id="1048580" name="Text 4"/>
          <p:cNvSpPr/>
          <p:nvPr/>
        </p:nvSpPr>
        <p:spPr>
          <a:xfrm>
            <a:off x="640080" y="3246120"/>
            <a:ext cx="786384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Multiple Choice Questions  |  </a:t>
            </a:r>
            <a:r>
              <a:rPr dirty="0" sz="1600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dirty="0" sz="1600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dirty="0" sz="1600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dirty="0" sz="1600" lang="en-US"/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768815" y="3154680"/>
            <a:ext cx="3352134" cy="729468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585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50</a:t>
            </a:r>
            <a:endParaRPr dirty="0" sz="1100" lang="en-US"/>
          </a:p>
        </p:txBody>
      </p:sp>
      <p:sp>
        <p:nvSpPr>
          <p:cNvPr id="1048586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gives blood its red colour?</a:t>
            </a:r>
            <a:endParaRPr dirty="0" sz="2500" lang="en-US"/>
          </a:p>
        </p:txBody>
      </p:sp>
      <p:sp>
        <p:nvSpPr>
          <p:cNvPr id="1048587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588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589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590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</a:t>
            </a:r>
            <a:endParaRPr dirty="0" sz="1400" lang="en-US"/>
          </a:p>
        </p:txBody>
      </p:sp>
      <p:sp>
        <p:nvSpPr>
          <p:cNvPr id="1048591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592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593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594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</a:t>
            </a:r>
            <a:endParaRPr dirty="0" sz="1400" lang="en-US"/>
          </a:p>
        </p:txBody>
      </p:sp>
      <p:sp>
        <p:nvSpPr>
          <p:cNvPr id="1048595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596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597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598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Haemoglobin</a:t>
            </a:r>
            <a:endParaRPr dirty="0" sz="1400" lang="en-US"/>
          </a:p>
        </p:txBody>
      </p:sp>
      <p:sp>
        <p:nvSpPr>
          <p:cNvPr id="1048599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00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601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602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WBCs</a:t>
            </a:r>
            <a:endParaRPr dirty="0" sz="1400" lang="en-US"/>
          </a:p>
        </p:txBody>
      </p:sp>
      <p:sp>
        <p:nvSpPr>
          <p:cNvPr id="1048603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4F52"/>
        </a:solidFill>
      </p:bgPr>
    </p:bg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608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609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 / 50</a:t>
            </a:r>
            <a:endParaRPr dirty="0" sz="1000" lang="en-US"/>
          </a:p>
        </p:txBody>
      </p:sp>
      <p:sp>
        <p:nvSpPr>
          <p:cNvPr id="1048610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gives blood its red colour?</a:t>
            </a:r>
            <a:endParaRPr dirty="0" sz="1600" lang="en-US"/>
          </a:p>
        </p:txBody>
      </p:sp>
      <p:sp>
        <p:nvSpPr>
          <p:cNvPr id="1048611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612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613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8614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Haemoglobin</a:t>
            </a:r>
            <a:endParaRPr dirty="0" sz="2000" lang="en-US"/>
          </a:p>
        </p:txBody>
      </p:sp>
      <p:sp>
        <p:nvSpPr>
          <p:cNvPr id="1048615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616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617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Haemoglobin is the iron-containing pigment in RBCs that binds oxygen and gives blood its red colour.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622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50</a:t>
            </a:r>
            <a:endParaRPr dirty="0" sz="1100" lang="en-US"/>
          </a:p>
        </p:txBody>
      </p:sp>
      <p:sp>
        <p:nvSpPr>
          <p:cNvPr id="1048623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blood cells usually live for about:</a:t>
            </a:r>
            <a:endParaRPr dirty="0" sz="2500" lang="en-US"/>
          </a:p>
        </p:txBody>
      </p:sp>
      <p:sp>
        <p:nvSpPr>
          <p:cNvPr id="1048624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25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626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627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dirty="0" sz="1400" lang="en-US"/>
          </a:p>
        </p:txBody>
      </p:sp>
      <p:sp>
        <p:nvSpPr>
          <p:cNvPr id="1048628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29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630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631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dirty="0" sz="1400" lang="en-US"/>
          </a:p>
        </p:txBody>
      </p:sp>
      <p:sp>
        <p:nvSpPr>
          <p:cNvPr id="1048632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33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634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635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dirty="0" sz="1400" lang="en-US"/>
          </a:p>
        </p:txBody>
      </p:sp>
      <p:sp>
        <p:nvSpPr>
          <p:cNvPr id="1048636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37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638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639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dirty="0" sz="1400" lang="en-US"/>
          </a:p>
        </p:txBody>
      </p:sp>
      <p:sp>
        <p:nvSpPr>
          <p:cNvPr id="1048640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4F52"/>
        </a:solidFill>
      </p:bgPr>
    </p:bg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645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646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 / 50</a:t>
            </a:r>
            <a:endParaRPr dirty="0" sz="1000" lang="en-US"/>
          </a:p>
        </p:txBody>
      </p:sp>
      <p:sp>
        <p:nvSpPr>
          <p:cNvPr id="1048647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blood cells usually live for about:</a:t>
            </a:r>
            <a:endParaRPr dirty="0" sz="1600" lang="en-US"/>
          </a:p>
        </p:txBody>
      </p:sp>
      <p:sp>
        <p:nvSpPr>
          <p:cNvPr id="1048648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649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650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8651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months</a:t>
            </a:r>
            <a:endParaRPr dirty="0" sz="2000" lang="en-US"/>
          </a:p>
        </p:txBody>
      </p:sp>
      <p:sp>
        <p:nvSpPr>
          <p:cNvPr id="1048652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653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654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RBCs have no nucleus and wear out after about 4 months, so the body keeps replacing them.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659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50</a:t>
            </a:r>
            <a:endParaRPr dirty="0" sz="1100" lang="en-US"/>
          </a:p>
        </p:txBody>
      </p:sp>
      <p:sp>
        <p:nvSpPr>
          <p:cNvPr id="1048660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blood component helps in clotting?</a:t>
            </a:r>
            <a:endParaRPr dirty="0" sz="2500" lang="en-US"/>
          </a:p>
        </p:txBody>
      </p:sp>
      <p:sp>
        <p:nvSpPr>
          <p:cNvPr id="1048661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62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663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664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RBCs</a:t>
            </a:r>
            <a:endParaRPr dirty="0" sz="1400" lang="en-US"/>
          </a:p>
        </p:txBody>
      </p:sp>
      <p:sp>
        <p:nvSpPr>
          <p:cNvPr id="1048665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66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667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668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</a:t>
            </a:r>
            <a:endParaRPr dirty="0" sz="1400" lang="en-US"/>
          </a:p>
        </p:txBody>
      </p:sp>
      <p:sp>
        <p:nvSpPr>
          <p:cNvPr id="1048669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70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671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672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</a:t>
            </a:r>
            <a:endParaRPr dirty="0" sz="1400" lang="en-US"/>
          </a:p>
        </p:txBody>
      </p:sp>
      <p:sp>
        <p:nvSpPr>
          <p:cNvPr id="1048673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74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675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676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WBCs</a:t>
            </a:r>
            <a:endParaRPr dirty="0" sz="1400" lang="en-US"/>
          </a:p>
        </p:txBody>
      </p:sp>
      <p:sp>
        <p:nvSpPr>
          <p:cNvPr id="1048677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4F52"/>
        </a:solidFill>
      </p:bgPr>
    </p:bg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682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683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 / 50</a:t>
            </a:r>
            <a:endParaRPr dirty="0" sz="1000" lang="en-US"/>
          </a:p>
        </p:txBody>
      </p:sp>
      <p:sp>
        <p:nvSpPr>
          <p:cNvPr id="1048684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blood component helps in clotting?</a:t>
            </a:r>
            <a:endParaRPr dirty="0" sz="1600" lang="en-US"/>
          </a:p>
        </p:txBody>
      </p:sp>
      <p:sp>
        <p:nvSpPr>
          <p:cNvPr id="1048685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686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687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8688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Platelets</a:t>
            </a:r>
            <a:endParaRPr dirty="0" sz="2000" lang="en-US"/>
          </a:p>
        </p:txBody>
      </p:sp>
      <p:sp>
        <p:nvSpPr>
          <p:cNvPr id="1048689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690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691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 clump together at a wound site and trigger the clotting process to stop bleeding.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696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50</a:t>
            </a:r>
            <a:endParaRPr dirty="0" sz="1100" lang="en-US"/>
          </a:p>
        </p:txBody>
      </p:sp>
      <p:sp>
        <p:nvSpPr>
          <p:cNvPr id="1048697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blood cells mainly help in:</a:t>
            </a:r>
            <a:endParaRPr dirty="0" sz="2500" lang="en-US"/>
          </a:p>
        </p:txBody>
      </p:sp>
      <p:sp>
        <p:nvSpPr>
          <p:cNvPr id="1048698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699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00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701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oxygen</a:t>
            </a:r>
            <a:endParaRPr dirty="0" sz="1400" lang="en-US"/>
          </a:p>
        </p:txBody>
      </p:sp>
      <p:sp>
        <p:nvSpPr>
          <p:cNvPr id="1048702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03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04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705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infections</a:t>
            </a:r>
            <a:endParaRPr dirty="0" sz="1400" lang="en-US"/>
          </a:p>
        </p:txBody>
      </p:sp>
      <p:sp>
        <p:nvSpPr>
          <p:cNvPr id="1048706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07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08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709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clotting</a:t>
            </a:r>
            <a:endParaRPr dirty="0" sz="1400" lang="en-US"/>
          </a:p>
        </p:txBody>
      </p:sp>
      <p:sp>
        <p:nvSpPr>
          <p:cNvPr id="1048710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11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12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713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</a:t>
            </a:r>
            <a:endParaRPr dirty="0" sz="1400" lang="en-US"/>
          </a:p>
        </p:txBody>
      </p:sp>
      <p:sp>
        <p:nvSpPr>
          <p:cNvPr id="1048714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4F52"/>
        </a:solidFill>
      </p:bgPr>
    </p:bg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719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720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 / 50</a:t>
            </a:r>
            <a:endParaRPr dirty="0" sz="1000" lang="en-US"/>
          </a:p>
        </p:txBody>
      </p:sp>
      <p:sp>
        <p:nvSpPr>
          <p:cNvPr id="1048721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blood cells mainly help in:</a:t>
            </a:r>
            <a:endParaRPr dirty="0" sz="1600" lang="en-US"/>
          </a:p>
        </p:txBody>
      </p:sp>
      <p:sp>
        <p:nvSpPr>
          <p:cNvPr id="1048722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723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724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8725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Fighting infections</a:t>
            </a:r>
            <a:endParaRPr dirty="0" sz="2000" lang="en-US"/>
          </a:p>
        </p:txBody>
      </p:sp>
      <p:sp>
        <p:nvSpPr>
          <p:cNvPr id="1048726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727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728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WBCs are the body's defence cells — they engulf and destroy germs that enter the body.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733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50</a:t>
            </a:r>
            <a:endParaRPr dirty="0" sz="1100" lang="en-US"/>
          </a:p>
        </p:txBody>
      </p:sp>
      <p:sp>
        <p:nvSpPr>
          <p:cNvPr id="1048734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Plasma makes up approximately:</a:t>
            </a:r>
            <a:endParaRPr dirty="0" sz="2500" lang="en-US"/>
          </a:p>
        </p:txBody>
      </p:sp>
      <p:sp>
        <p:nvSpPr>
          <p:cNvPr id="1048735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36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37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738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dirty="0" sz="1400" lang="en-US"/>
          </a:p>
        </p:txBody>
      </p:sp>
      <p:sp>
        <p:nvSpPr>
          <p:cNvPr id="1048739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40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41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742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dirty="0" sz="1400" lang="en-US"/>
          </a:p>
        </p:txBody>
      </p:sp>
      <p:sp>
        <p:nvSpPr>
          <p:cNvPr id="1048743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44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45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746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dirty="0" sz="1400" lang="en-US"/>
          </a:p>
        </p:txBody>
      </p:sp>
      <p:sp>
        <p:nvSpPr>
          <p:cNvPr id="1048747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48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49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750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dirty="0" sz="1400" lang="en-US"/>
          </a:p>
        </p:txBody>
      </p:sp>
      <p:sp>
        <p:nvSpPr>
          <p:cNvPr id="1048751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4F52"/>
        </a:solidFill>
      </p:bgPr>
    </p:bg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756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757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 / 50</a:t>
            </a:r>
            <a:endParaRPr dirty="0" sz="1000" lang="en-US"/>
          </a:p>
        </p:txBody>
      </p:sp>
      <p:sp>
        <p:nvSpPr>
          <p:cNvPr id="1048758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makes up approximately:</a:t>
            </a:r>
            <a:endParaRPr dirty="0" sz="1600" lang="en-US"/>
          </a:p>
        </p:txBody>
      </p:sp>
      <p:sp>
        <p:nvSpPr>
          <p:cNvPr id="1048759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760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761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8762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dirty="0" sz="2000" lang="en-US"/>
          </a:p>
        </p:txBody>
      </p:sp>
      <p:sp>
        <p:nvSpPr>
          <p:cNvPr id="1048763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764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765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Plasma, the liquid part of blood, makes up about 55% of blood volume; cells make up the rest.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770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50</a:t>
            </a:r>
            <a:endParaRPr dirty="0" sz="1100" lang="en-US"/>
          </a:p>
        </p:txBody>
      </p:sp>
      <p:sp>
        <p:nvSpPr>
          <p:cNvPr id="1048771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exercise, muscles need more:</a:t>
            </a:r>
            <a:endParaRPr dirty="0" sz="2500" lang="en-US"/>
          </a:p>
        </p:txBody>
      </p:sp>
      <p:sp>
        <p:nvSpPr>
          <p:cNvPr id="1048772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73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74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775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</a:t>
            </a:r>
            <a:endParaRPr dirty="0" sz="1400" lang="en-US"/>
          </a:p>
        </p:txBody>
      </p:sp>
      <p:sp>
        <p:nvSpPr>
          <p:cNvPr id="1048776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77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78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779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dirty="0" sz="1400" lang="en-US"/>
          </a:p>
        </p:txBody>
      </p:sp>
      <p:sp>
        <p:nvSpPr>
          <p:cNvPr id="1048780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81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82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783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</a:t>
            </a:r>
            <a:endParaRPr dirty="0" sz="1400" lang="en-US"/>
          </a:p>
        </p:txBody>
      </p:sp>
      <p:sp>
        <p:nvSpPr>
          <p:cNvPr id="1048784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785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786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787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Vitamins</a:t>
            </a:r>
            <a:endParaRPr dirty="0" sz="1400" lang="en-US"/>
          </a:p>
        </p:txBody>
      </p:sp>
      <p:sp>
        <p:nvSpPr>
          <p:cNvPr id="1048788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4F52"/>
        </a:solidFill>
      </p:bgPr>
    </p:bg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793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794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 / 50</a:t>
            </a:r>
            <a:endParaRPr dirty="0" sz="1000" lang="en-US"/>
          </a:p>
        </p:txBody>
      </p:sp>
      <p:sp>
        <p:nvSpPr>
          <p:cNvPr id="1048795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exercise, muscles need more:</a:t>
            </a:r>
            <a:endParaRPr dirty="0" sz="1600" lang="en-US"/>
          </a:p>
        </p:txBody>
      </p:sp>
      <p:sp>
        <p:nvSpPr>
          <p:cNvPr id="1048796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797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798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8799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Oxygen</a:t>
            </a:r>
            <a:endParaRPr dirty="0" sz="2000" lang="en-US"/>
          </a:p>
        </p:txBody>
      </p:sp>
      <p:sp>
        <p:nvSpPr>
          <p:cNvPr id="1048800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801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802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muscles respire faster and need extra oxygen to release energy, so blood flow increases.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807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50</a:t>
            </a:r>
            <a:endParaRPr dirty="0" sz="1100" lang="en-US"/>
          </a:p>
        </p:txBody>
      </p:sp>
      <p:sp>
        <p:nvSpPr>
          <p:cNvPr id="1048808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Swelling and redness during infection are caused by:</a:t>
            </a:r>
            <a:endParaRPr dirty="0" sz="2500" lang="en-US"/>
          </a:p>
        </p:txBody>
      </p:sp>
      <p:sp>
        <p:nvSpPr>
          <p:cNvPr id="1048809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10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11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812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RBCs</a:t>
            </a:r>
            <a:endParaRPr dirty="0" sz="1400" lang="en-US"/>
          </a:p>
        </p:txBody>
      </p:sp>
      <p:sp>
        <p:nvSpPr>
          <p:cNvPr id="1048813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14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15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816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WBCs</a:t>
            </a:r>
            <a:endParaRPr dirty="0" sz="1400" lang="en-US"/>
          </a:p>
        </p:txBody>
      </p:sp>
      <p:sp>
        <p:nvSpPr>
          <p:cNvPr id="1048817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18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19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820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</a:t>
            </a:r>
            <a:endParaRPr dirty="0" sz="1400" lang="en-US"/>
          </a:p>
        </p:txBody>
      </p:sp>
      <p:sp>
        <p:nvSpPr>
          <p:cNvPr id="1048821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22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23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824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</a:t>
            </a:r>
            <a:endParaRPr dirty="0" sz="1400" lang="en-US"/>
          </a:p>
        </p:txBody>
      </p:sp>
      <p:sp>
        <p:nvSpPr>
          <p:cNvPr id="1048825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4F52"/>
        </a:solidFill>
      </p:bgPr>
    </p:bg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830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831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7 / 50</a:t>
            </a:r>
            <a:endParaRPr dirty="0" sz="1000" lang="en-US"/>
          </a:p>
        </p:txBody>
      </p:sp>
      <p:sp>
        <p:nvSpPr>
          <p:cNvPr id="1048832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Swelling and redness during infection are caused by:</a:t>
            </a:r>
            <a:endParaRPr dirty="0" sz="1600" lang="en-US"/>
          </a:p>
        </p:txBody>
      </p:sp>
      <p:sp>
        <p:nvSpPr>
          <p:cNvPr id="1048833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834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835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8836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WBCs</a:t>
            </a:r>
            <a:endParaRPr dirty="0" sz="2000" lang="en-US"/>
          </a:p>
        </p:txBody>
      </p:sp>
      <p:sp>
        <p:nvSpPr>
          <p:cNvPr id="1048837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838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839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WBCs rush to the infected area to fight germs, causing local swelling and redness.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844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50</a:t>
            </a:r>
            <a:endParaRPr dirty="0" sz="1100" lang="en-US"/>
          </a:p>
        </p:txBody>
      </p:sp>
      <p:sp>
        <p:nvSpPr>
          <p:cNvPr id="1048845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Bones mainly contain:</a:t>
            </a:r>
            <a:endParaRPr dirty="0" sz="2500" lang="en-US"/>
          </a:p>
        </p:txBody>
      </p:sp>
      <p:sp>
        <p:nvSpPr>
          <p:cNvPr id="1048846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47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48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849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and phosphorus</a:t>
            </a:r>
            <a:endParaRPr dirty="0" sz="1400" lang="en-US"/>
          </a:p>
        </p:txBody>
      </p:sp>
      <p:sp>
        <p:nvSpPr>
          <p:cNvPr id="1048850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51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52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853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</a:t>
            </a:r>
            <a:endParaRPr dirty="0" sz="1400" lang="en-US"/>
          </a:p>
        </p:txBody>
      </p:sp>
      <p:sp>
        <p:nvSpPr>
          <p:cNvPr id="1048854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55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56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857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</a:t>
            </a:r>
            <a:endParaRPr dirty="0" sz="1400" lang="en-US"/>
          </a:p>
        </p:txBody>
      </p:sp>
      <p:sp>
        <p:nvSpPr>
          <p:cNvPr id="1048858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59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60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861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</a:t>
            </a:r>
            <a:endParaRPr dirty="0" sz="1400" lang="en-US"/>
          </a:p>
        </p:txBody>
      </p:sp>
      <p:sp>
        <p:nvSpPr>
          <p:cNvPr id="1048862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14F52"/>
        </a:solidFill>
      </p:bgPr>
    </p:bg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867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868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 / 50</a:t>
            </a:r>
            <a:endParaRPr dirty="0" sz="1000" lang="en-US"/>
          </a:p>
        </p:txBody>
      </p:sp>
      <p:sp>
        <p:nvSpPr>
          <p:cNvPr id="1048869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mainly contain:</a:t>
            </a:r>
            <a:endParaRPr dirty="0" sz="1600" lang="en-US"/>
          </a:p>
        </p:txBody>
      </p:sp>
      <p:sp>
        <p:nvSpPr>
          <p:cNvPr id="1048870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871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872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800" lang="en-US"/>
          </a:p>
        </p:txBody>
      </p:sp>
      <p:sp>
        <p:nvSpPr>
          <p:cNvPr id="1048873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Calcium and phosphorus</a:t>
            </a:r>
            <a:endParaRPr dirty="0" sz="2000" lang="en-US"/>
          </a:p>
        </p:txBody>
      </p:sp>
      <p:sp>
        <p:nvSpPr>
          <p:cNvPr id="1048874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875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876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are made of a calcium and phosphorus compound, which makes them hard and strong.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0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881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/ 50</a:t>
            </a:r>
            <a:endParaRPr dirty="0" sz="1100" lang="en-US"/>
          </a:p>
        </p:txBody>
      </p:sp>
      <p:sp>
        <p:nvSpPr>
          <p:cNvPr id="1048882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Cartilage is:</a:t>
            </a:r>
            <a:endParaRPr dirty="0" sz="2500" lang="en-US"/>
          </a:p>
        </p:txBody>
      </p:sp>
      <p:sp>
        <p:nvSpPr>
          <p:cNvPr id="1048883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84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85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886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and rigid</a:t>
            </a:r>
            <a:endParaRPr dirty="0" sz="1400" lang="en-US"/>
          </a:p>
        </p:txBody>
      </p:sp>
      <p:sp>
        <p:nvSpPr>
          <p:cNvPr id="1048887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88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89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890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and flexible</a:t>
            </a:r>
            <a:endParaRPr dirty="0" sz="1400" lang="en-US"/>
          </a:p>
        </p:txBody>
      </p:sp>
      <p:sp>
        <p:nvSpPr>
          <p:cNvPr id="1048891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92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93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894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dirty="0" sz="1400" lang="en-US"/>
          </a:p>
        </p:txBody>
      </p:sp>
      <p:sp>
        <p:nvSpPr>
          <p:cNvPr id="1048895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896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897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898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</a:t>
            </a:r>
            <a:endParaRPr dirty="0" sz="1400" lang="en-US"/>
          </a:p>
        </p:txBody>
      </p:sp>
      <p:sp>
        <p:nvSpPr>
          <p:cNvPr id="1048899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14F52"/>
        </a:solidFill>
      </p:bgPr>
    </p:bg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3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904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905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9 / 50</a:t>
            </a:r>
            <a:endParaRPr dirty="0" sz="1000" lang="en-US"/>
          </a:p>
        </p:txBody>
      </p:sp>
      <p:sp>
        <p:nvSpPr>
          <p:cNvPr id="1048906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 is:</a:t>
            </a:r>
            <a:endParaRPr dirty="0" sz="1600" lang="en-US"/>
          </a:p>
        </p:txBody>
      </p:sp>
      <p:sp>
        <p:nvSpPr>
          <p:cNvPr id="1048907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908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909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8910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and flexible</a:t>
            </a:r>
            <a:endParaRPr dirty="0" sz="2000" lang="en-US"/>
          </a:p>
        </p:txBody>
      </p:sp>
      <p:sp>
        <p:nvSpPr>
          <p:cNvPr id="1048911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912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913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 is a softer, flexible connective tissue found at joints, ears, and the nose.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918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/ 50</a:t>
            </a:r>
            <a:endParaRPr dirty="0" sz="1100" lang="en-US"/>
          </a:p>
        </p:txBody>
      </p:sp>
      <p:sp>
        <p:nvSpPr>
          <p:cNvPr id="1048919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Tendons connect:</a:t>
            </a:r>
            <a:endParaRPr dirty="0" sz="2500" lang="en-US"/>
          </a:p>
        </p:txBody>
      </p:sp>
      <p:sp>
        <p:nvSpPr>
          <p:cNvPr id="1048920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21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922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923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to bone</a:t>
            </a:r>
            <a:endParaRPr dirty="0" sz="1400" lang="en-US"/>
          </a:p>
        </p:txBody>
      </p:sp>
      <p:sp>
        <p:nvSpPr>
          <p:cNvPr id="1048924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25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926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927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to muscle</a:t>
            </a:r>
            <a:endParaRPr dirty="0" sz="1400" lang="en-US"/>
          </a:p>
        </p:txBody>
      </p:sp>
      <p:sp>
        <p:nvSpPr>
          <p:cNvPr id="1048928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29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930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931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to bone</a:t>
            </a:r>
            <a:endParaRPr dirty="0" sz="1400" lang="en-US"/>
          </a:p>
        </p:txBody>
      </p:sp>
      <p:sp>
        <p:nvSpPr>
          <p:cNvPr id="1048932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33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934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935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 to bone</a:t>
            </a:r>
            <a:endParaRPr dirty="0" sz="1400" lang="en-US"/>
          </a:p>
        </p:txBody>
      </p:sp>
      <p:sp>
        <p:nvSpPr>
          <p:cNvPr id="1048936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4F52"/>
        </a:solidFill>
      </p:bgPr>
    </p:bg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0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941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942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/ 50</a:t>
            </a:r>
            <a:endParaRPr dirty="0" sz="1000" lang="en-US"/>
          </a:p>
        </p:txBody>
      </p:sp>
      <p:sp>
        <p:nvSpPr>
          <p:cNvPr id="1048943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Tendons connect:</a:t>
            </a:r>
            <a:endParaRPr dirty="0" sz="1600" lang="en-US"/>
          </a:p>
        </p:txBody>
      </p:sp>
      <p:sp>
        <p:nvSpPr>
          <p:cNvPr id="1048944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945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946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8947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 to bone</a:t>
            </a:r>
            <a:endParaRPr dirty="0" sz="2000" lang="en-US"/>
          </a:p>
        </p:txBody>
      </p:sp>
      <p:sp>
        <p:nvSpPr>
          <p:cNvPr id="1048948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949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950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Tendons are tough fibrous tissues that attach muscles to bones so muscle pull can move the bone.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4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955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/ 50</a:t>
            </a:r>
            <a:endParaRPr dirty="0" sz="1100" lang="en-US"/>
          </a:p>
        </p:txBody>
      </p:sp>
      <p:sp>
        <p:nvSpPr>
          <p:cNvPr id="1048956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Ligaments connect:</a:t>
            </a:r>
            <a:endParaRPr dirty="0" sz="2500" lang="en-US"/>
          </a:p>
        </p:txBody>
      </p:sp>
      <p:sp>
        <p:nvSpPr>
          <p:cNvPr id="1048957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58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959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960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to bone</a:t>
            </a:r>
            <a:endParaRPr dirty="0" sz="1400" lang="en-US"/>
          </a:p>
        </p:txBody>
      </p:sp>
      <p:sp>
        <p:nvSpPr>
          <p:cNvPr id="1048961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62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963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8964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to bone</a:t>
            </a:r>
            <a:endParaRPr dirty="0" sz="1400" lang="en-US"/>
          </a:p>
        </p:txBody>
      </p:sp>
      <p:sp>
        <p:nvSpPr>
          <p:cNvPr id="1048965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66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967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968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to muscle</a:t>
            </a:r>
            <a:endParaRPr dirty="0" sz="1400" lang="en-US"/>
          </a:p>
        </p:txBody>
      </p:sp>
      <p:sp>
        <p:nvSpPr>
          <p:cNvPr id="1048969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70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971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8972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to cartilage</a:t>
            </a:r>
            <a:endParaRPr dirty="0" sz="1400" lang="en-US"/>
          </a:p>
        </p:txBody>
      </p:sp>
      <p:sp>
        <p:nvSpPr>
          <p:cNvPr id="1048973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14F52"/>
        </a:solidFill>
      </p:bgPr>
    </p:bg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7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8978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8979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11 / 50</a:t>
            </a:r>
            <a:endParaRPr dirty="0" sz="1000" lang="en-US"/>
          </a:p>
        </p:txBody>
      </p:sp>
      <p:sp>
        <p:nvSpPr>
          <p:cNvPr id="1048980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Ligaments connect:</a:t>
            </a:r>
            <a:endParaRPr dirty="0" sz="1600" lang="en-US"/>
          </a:p>
        </p:txBody>
      </p:sp>
      <p:sp>
        <p:nvSpPr>
          <p:cNvPr id="1048981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8982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8983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800" lang="en-US"/>
          </a:p>
        </p:txBody>
      </p:sp>
      <p:sp>
        <p:nvSpPr>
          <p:cNvPr id="1048984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 to bone</a:t>
            </a:r>
            <a:endParaRPr dirty="0" sz="2000" lang="en-US"/>
          </a:p>
        </p:txBody>
      </p:sp>
      <p:sp>
        <p:nvSpPr>
          <p:cNvPr id="1048985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8986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8987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Ligaments are elastic tissues that connect one bone to another at a joint.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1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8992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/ 50</a:t>
            </a:r>
            <a:endParaRPr dirty="0" sz="1100" lang="en-US"/>
          </a:p>
        </p:txBody>
      </p:sp>
      <p:sp>
        <p:nvSpPr>
          <p:cNvPr id="1048993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Ligaments help prevent:</a:t>
            </a:r>
            <a:endParaRPr dirty="0" sz="2500" lang="en-US"/>
          </a:p>
        </p:txBody>
      </p:sp>
      <p:sp>
        <p:nvSpPr>
          <p:cNvPr id="1048994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95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8996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8997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</a:t>
            </a:r>
            <a:endParaRPr dirty="0" sz="1400" lang="en-US"/>
          </a:p>
        </p:txBody>
      </p:sp>
      <p:sp>
        <p:nvSpPr>
          <p:cNvPr id="1048998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8999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00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001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Dislocation</a:t>
            </a:r>
            <a:endParaRPr dirty="0" sz="1400" lang="en-US"/>
          </a:p>
        </p:txBody>
      </p:sp>
      <p:sp>
        <p:nvSpPr>
          <p:cNvPr id="1049002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03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04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005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</a:t>
            </a:r>
            <a:endParaRPr dirty="0" sz="1400" lang="en-US"/>
          </a:p>
        </p:txBody>
      </p:sp>
      <p:sp>
        <p:nvSpPr>
          <p:cNvPr id="1049006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07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08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009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Clotting</a:t>
            </a:r>
            <a:endParaRPr dirty="0" sz="1400" lang="en-US"/>
          </a:p>
        </p:txBody>
      </p:sp>
      <p:sp>
        <p:nvSpPr>
          <p:cNvPr id="1049010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14F52"/>
        </a:solidFill>
      </p:bgPr>
    </p:bg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4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015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016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12 / 50</a:t>
            </a:r>
            <a:endParaRPr dirty="0" sz="1000" lang="en-US"/>
          </a:p>
        </p:txBody>
      </p:sp>
      <p:sp>
        <p:nvSpPr>
          <p:cNvPr id="1049017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Ligaments help prevent:</a:t>
            </a:r>
            <a:endParaRPr dirty="0" sz="1600" lang="en-US"/>
          </a:p>
        </p:txBody>
      </p:sp>
      <p:sp>
        <p:nvSpPr>
          <p:cNvPr id="1049018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019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020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021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Dislocation</a:t>
            </a:r>
            <a:endParaRPr dirty="0" sz="2000" lang="en-US"/>
          </a:p>
        </p:txBody>
      </p:sp>
      <p:sp>
        <p:nvSpPr>
          <p:cNvPr id="1049022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023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024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holding bones firmly together at joints, ligaments prevent dislocation during movement.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8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029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/ 50</a:t>
            </a:r>
            <a:endParaRPr dirty="0" sz="1100" lang="en-US"/>
          </a:p>
        </p:txBody>
      </p:sp>
      <p:sp>
        <p:nvSpPr>
          <p:cNvPr id="1049030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tissue cushions the ends of bones?</a:t>
            </a:r>
            <a:endParaRPr dirty="0" sz="2500" lang="en-US"/>
          </a:p>
        </p:txBody>
      </p:sp>
      <p:sp>
        <p:nvSpPr>
          <p:cNvPr id="1049031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32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33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034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</a:t>
            </a:r>
            <a:endParaRPr dirty="0" sz="1400" lang="en-US"/>
          </a:p>
        </p:txBody>
      </p:sp>
      <p:sp>
        <p:nvSpPr>
          <p:cNvPr id="1049035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36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37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038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</a:t>
            </a:r>
            <a:endParaRPr dirty="0" sz="1400" lang="en-US"/>
          </a:p>
        </p:txBody>
      </p:sp>
      <p:sp>
        <p:nvSpPr>
          <p:cNvPr id="1049039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40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41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042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</a:t>
            </a:r>
            <a:endParaRPr dirty="0" sz="1400" lang="en-US"/>
          </a:p>
        </p:txBody>
      </p:sp>
      <p:sp>
        <p:nvSpPr>
          <p:cNvPr id="1049043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44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45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046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Ligament</a:t>
            </a:r>
            <a:endParaRPr dirty="0" sz="1400" lang="en-US"/>
          </a:p>
        </p:txBody>
      </p:sp>
      <p:sp>
        <p:nvSpPr>
          <p:cNvPr id="1049047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14F52"/>
        </a:solidFill>
      </p:bgPr>
    </p:bg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1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052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053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13 / 50</a:t>
            </a:r>
            <a:endParaRPr dirty="0" sz="1000" lang="en-US"/>
          </a:p>
        </p:txBody>
      </p:sp>
      <p:sp>
        <p:nvSpPr>
          <p:cNvPr id="1049054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tissue cushions the ends of bones?</a:t>
            </a:r>
            <a:endParaRPr dirty="0" sz="1600" lang="en-US"/>
          </a:p>
        </p:txBody>
      </p:sp>
      <p:sp>
        <p:nvSpPr>
          <p:cNvPr id="1049055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056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057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058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Cartilage</a:t>
            </a:r>
            <a:endParaRPr dirty="0" sz="2000" lang="en-US"/>
          </a:p>
        </p:txBody>
      </p:sp>
      <p:sp>
        <p:nvSpPr>
          <p:cNvPr id="1049059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060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061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cartilage covers the ends of bones at joints, reducing friction and cushioning impact.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5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066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/ 50</a:t>
            </a:r>
            <a:endParaRPr dirty="0" sz="1100" lang="en-US"/>
          </a:p>
        </p:txBody>
      </p:sp>
      <p:sp>
        <p:nvSpPr>
          <p:cNvPr id="1049067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Voluntary movements are controlled by:</a:t>
            </a:r>
            <a:endParaRPr dirty="0" sz="2500" lang="en-US"/>
          </a:p>
        </p:txBody>
      </p:sp>
      <p:sp>
        <p:nvSpPr>
          <p:cNvPr id="1049068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69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70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071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muscles</a:t>
            </a:r>
            <a:endParaRPr dirty="0" sz="1400" lang="en-US"/>
          </a:p>
        </p:txBody>
      </p:sp>
      <p:sp>
        <p:nvSpPr>
          <p:cNvPr id="1049072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73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74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075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muscles</a:t>
            </a:r>
            <a:endParaRPr dirty="0" sz="1400" lang="en-US"/>
          </a:p>
        </p:txBody>
      </p:sp>
      <p:sp>
        <p:nvSpPr>
          <p:cNvPr id="1049076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77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78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079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muscles</a:t>
            </a:r>
            <a:endParaRPr dirty="0" sz="1400" lang="en-US"/>
          </a:p>
        </p:txBody>
      </p:sp>
      <p:sp>
        <p:nvSpPr>
          <p:cNvPr id="1049080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081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082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083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Nerves only</a:t>
            </a:r>
            <a:endParaRPr dirty="0" sz="1400" lang="en-US"/>
          </a:p>
        </p:txBody>
      </p:sp>
      <p:sp>
        <p:nvSpPr>
          <p:cNvPr id="1049084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14F52"/>
        </a:solidFill>
      </p:bgPr>
    </p:bg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8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089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090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14 / 50</a:t>
            </a:r>
            <a:endParaRPr dirty="0" sz="1000" lang="en-US"/>
          </a:p>
        </p:txBody>
      </p:sp>
      <p:sp>
        <p:nvSpPr>
          <p:cNvPr id="1049091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movements are controlled by:</a:t>
            </a:r>
            <a:endParaRPr dirty="0" sz="1600" lang="en-US"/>
          </a:p>
        </p:txBody>
      </p:sp>
      <p:sp>
        <p:nvSpPr>
          <p:cNvPr id="1049092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093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094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800" lang="en-US"/>
          </a:p>
        </p:txBody>
      </p:sp>
      <p:sp>
        <p:nvSpPr>
          <p:cNvPr id="1049095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Skeletal muscles</a:t>
            </a:r>
            <a:endParaRPr dirty="0" sz="2000" lang="en-US"/>
          </a:p>
        </p:txBody>
      </p:sp>
      <p:sp>
        <p:nvSpPr>
          <p:cNvPr id="1049096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097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098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muscles are attached to bones and move under our conscious (voluntary) control.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2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103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/ 50</a:t>
            </a:r>
            <a:endParaRPr dirty="0" sz="1100" lang="en-US"/>
          </a:p>
        </p:txBody>
      </p:sp>
      <p:sp>
        <p:nvSpPr>
          <p:cNvPr id="1049104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Beating of the heart is an example of:</a:t>
            </a:r>
            <a:endParaRPr dirty="0" sz="2500" lang="en-US"/>
          </a:p>
        </p:txBody>
      </p:sp>
      <p:sp>
        <p:nvSpPr>
          <p:cNvPr id="1049105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06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07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108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movement</a:t>
            </a:r>
            <a:endParaRPr dirty="0" sz="1400" lang="en-US"/>
          </a:p>
        </p:txBody>
      </p:sp>
      <p:sp>
        <p:nvSpPr>
          <p:cNvPr id="1049109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10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11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112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movement</a:t>
            </a:r>
            <a:endParaRPr dirty="0" sz="1400" lang="en-US"/>
          </a:p>
        </p:txBody>
      </p:sp>
      <p:sp>
        <p:nvSpPr>
          <p:cNvPr id="1049113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14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15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116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dirty="0" sz="1400" lang="en-US"/>
          </a:p>
        </p:txBody>
      </p:sp>
      <p:sp>
        <p:nvSpPr>
          <p:cNvPr id="1049117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18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19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120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</a:t>
            </a:r>
            <a:endParaRPr dirty="0" sz="1400" lang="en-US"/>
          </a:p>
        </p:txBody>
      </p:sp>
      <p:sp>
        <p:nvSpPr>
          <p:cNvPr id="1049121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14F52"/>
        </a:solidFill>
      </p:bgPr>
    </p:bg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5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126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127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15 / 50</a:t>
            </a:r>
            <a:endParaRPr dirty="0" sz="1000" lang="en-US"/>
          </a:p>
        </p:txBody>
      </p:sp>
      <p:sp>
        <p:nvSpPr>
          <p:cNvPr id="1049128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Beating of the heart is an example of:</a:t>
            </a:r>
            <a:endParaRPr dirty="0" sz="1600" lang="en-US"/>
          </a:p>
        </p:txBody>
      </p:sp>
      <p:sp>
        <p:nvSpPr>
          <p:cNvPr id="1049129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130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131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132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Involuntary movement</a:t>
            </a:r>
            <a:endParaRPr dirty="0" sz="2000" lang="en-US"/>
          </a:p>
        </p:txBody>
      </p:sp>
      <p:sp>
        <p:nvSpPr>
          <p:cNvPr id="1049133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134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135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beats continuously without our conscious control, making it an involuntary movement.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9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140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/ 50</a:t>
            </a:r>
            <a:endParaRPr dirty="0" sz="1100" lang="en-US"/>
          </a:p>
        </p:txBody>
      </p:sp>
      <p:sp>
        <p:nvSpPr>
          <p:cNvPr id="1049141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muscle is found only in the heart?</a:t>
            </a:r>
            <a:endParaRPr dirty="0" sz="2500" lang="en-US"/>
          </a:p>
        </p:txBody>
      </p:sp>
      <p:sp>
        <p:nvSpPr>
          <p:cNvPr id="1049142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43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44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145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</a:t>
            </a:r>
            <a:endParaRPr dirty="0" sz="1400" lang="en-US"/>
          </a:p>
        </p:txBody>
      </p:sp>
      <p:sp>
        <p:nvSpPr>
          <p:cNvPr id="1049146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47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48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149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dirty="0" sz="1400" lang="en-US"/>
          </a:p>
        </p:txBody>
      </p:sp>
      <p:sp>
        <p:nvSpPr>
          <p:cNvPr id="1049150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51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52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153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</a:t>
            </a:r>
            <a:endParaRPr dirty="0" sz="1400" lang="en-US"/>
          </a:p>
        </p:txBody>
      </p:sp>
      <p:sp>
        <p:nvSpPr>
          <p:cNvPr id="1049154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55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56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157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Striated</a:t>
            </a:r>
            <a:endParaRPr dirty="0" sz="1400" lang="en-US"/>
          </a:p>
        </p:txBody>
      </p:sp>
      <p:sp>
        <p:nvSpPr>
          <p:cNvPr id="1049158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14F52"/>
        </a:solidFill>
      </p:bgPr>
    </p:bg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2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163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164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16 / 50</a:t>
            </a:r>
            <a:endParaRPr dirty="0" sz="1000" lang="en-US"/>
          </a:p>
        </p:txBody>
      </p:sp>
      <p:sp>
        <p:nvSpPr>
          <p:cNvPr id="1049165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muscle is found only in the heart?</a:t>
            </a:r>
            <a:endParaRPr dirty="0" sz="1600" lang="en-US"/>
          </a:p>
        </p:txBody>
      </p:sp>
      <p:sp>
        <p:nvSpPr>
          <p:cNvPr id="1049166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167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168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9169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Cardiac</a:t>
            </a:r>
            <a:endParaRPr dirty="0" sz="2000" lang="en-US"/>
          </a:p>
        </p:txBody>
      </p:sp>
      <p:sp>
        <p:nvSpPr>
          <p:cNvPr id="1049170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171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172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muscle is a unique, tireless muscle type found only in the walls of the heart.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6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177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/ 50</a:t>
            </a:r>
            <a:endParaRPr dirty="0" sz="1100" lang="en-US"/>
          </a:p>
        </p:txBody>
      </p:sp>
      <p:sp>
        <p:nvSpPr>
          <p:cNvPr id="1049178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Skeletal muscles are attached to:</a:t>
            </a:r>
            <a:endParaRPr dirty="0" sz="2500" lang="en-US"/>
          </a:p>
        </p:txBody>
      </p:sp>
      <p:sp>
        <p:nvSpPr>
          <p:cNvPr id="1049179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80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81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182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</a:t>
            </a:r>
            <a:endParaRPr dirty="0" sz="1400" lang="en-US"/>
          </a:p>
        </p:txBody>
      </p:sp>
      <p:sp>
        <p:nvSpPr>
          <p:cNvPr id="1049183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84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85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186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</a:t>
            </a:r>
            <a:endParaRPr dirty="0" sz="1400" lang="en-US"/>
          </a:p>
        </p:txBody>
      </p:sp>
      <p:sp>
        <p:nvSpPr>
          <p:cNvPr id="1049187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88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89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190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dirty="0" sz="1400" lang="en-US"/>
          </a:p>
        </p:txBody>
      </p:sp>
      <p:sp>
        <p:nvSpPr>
          <p:cNvPr id="1049191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192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193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194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</a:t>
            </a:r>
            <a:endParaRPr dirty="0" sz="1400" lang="en-US"/>
          </a:p>
        </p:txBody>
      </p:sp>
      <p:sp>
        <p:nvSpPr>
          <p:cNvPr id="1049195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14F52"/>
        </a:solidFill>
      </p:bgPr>
    </p:bg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9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200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201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17 / 50</a:t>
            </a:r>
            <a:endParaRPr dirty="0" sz="1000" lang="en-US"/>
          </a:p>
        </p:txBody>
      </p:sp>
      <p:sp>
        <p:nvSpPr>
          <p:cNvPr id="1049202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muscles are attached to:</a:t>
            </a:r>
            <a:endParaRPr dirty="0" sz="1600" lang="en-US"/>
          </a:p>
        </p:txBody>
      </p:sp>
      <p:sp>
        <p:nvSpPr>
          <p:cNvPr id="1049203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204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205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206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Bones</a:t>
            </a:r>
            <a:endParaRPr dirty="0" sz="2000" lang="en-US"/>
          </a:p>
        </p:txBody>
      </p:sp>
      <p:sp>
        <p:nvSpPr>
          <p:cNvPr id="1049207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208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209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muscles attach to bones via tendons, allowing them to move the skeleton.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3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214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/ 50</a:t>
            </a:r>
            <a:endParaRPr dirty="0" sz="1100" lang="en-US"/>
          </a:p>
        </p:txBody>
      </p:sp>
      <p:sp>
        <p:nvSpPr>
          <p:cNvPr id="1049215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Neurons are found in:</a:t>
            </a:r>
            <a:endParaRPr dirty="0" sz="2500" lang="en-US"/>
          </a:p>
        </p:txBody>
      </p:sp>
      <p:sp>
        <p:nvSpPr>
          <p:cNvPr id="1049216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17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18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219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dirty="0" sz="1400" lang="en-US"/>
          </a:p>
        </p:txBody>
      </p:sp>
      <p:sp>
        <p:nvSpPr>
          <p:cNvPr id="1049220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21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22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223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tissue</a:t>
            </a:r>
            <a:endParaRPr dirty="0" sz="1400" lang="en-US"/>
          </a:p>
        </p:txBody>
      </p:sp>
      <p:sp>
        <p:nvSpPr>
          <p:cNvPr id="1049224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25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26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227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</a:t>
            </a:r>
            <a:endParaRPr dirty="0" sz="1400" lang="en-US"/>
          </a:p>
        </p:txBody>
      </p:sp>
      <p:sp>
        <p:nvSpPr>
          <p:cNvPr id="1049228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29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30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231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</a:t>
            </a:r>
            <a:endParaRPr dirty="0" sz="1400" lang="en-US"/>
          </a:p>
        </p:txBody>
      </p:sp>
      <p:sp>
        <p:nvSpPr>
          <p:cNvPr id="1049232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14F52"/>
        </a:solidFill>
      </p:bgPr>
    </p:bg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6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237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238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18 / 50</a:t>
            </a:r>
            <a:endParaRPr dirty="0" sz="1000" lang="en-US"/>
          </a:p>
        </p:txBody>
      </p:sp>
      <p:sp>
        <p:nvSpPr>
          <p:cNvPr id="1049239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are found in:</a:t>
            </a:r>
            <a:endParaRPr dirty="0" sz="1600" lang="en-US"/>
          </a:p>
        </p:txBody>
      </p:sp>
      <p:sp>
        <p:nvSpPr>
          <p:cNvPr id="1049240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241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242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243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Nervous tissue</a:t>
            </a:r>
            <a:endParaRPr dirty="0" sz="2000" lang="en-US"/>
          </a:p>
        </p:txBody>
      </p:sp>
      <p:sp>
        <p:nvSpPr>
          <p:cNvPr id="1049244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245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246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(nerve cells) are the basic structural units of nervous tissue.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0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251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/ 50</a:t>
            </a:r>
            <a:endParaRPr dirty="0" sz="1100" lang="en-US"/>
          </a:p>
        </p:txBody>
      </p:sp>
      <p:sp>
        <p:nvSpPr>
          <p:cNvPr id="1049252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longest part of a neuron is the:</a:t>
            </a:r>
            <a:endParaRPr dirty="0" sz="2500" lang="en-US"/>
          </a:p>
        </p:txBody>
      </p:sp>
      <p:sp>
        <p:nvSpPr>
          <p:cNvPr id="1049253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54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55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256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body</a:t>
            </a:r>
            <a:endParaRPr dirty="0" sz="1400" lang="en-US"/>
          </a:p>
        </p:txBody>
      </p:sp>
      <p:sp>
        <p:nvSpPr>
          <p:cNvPr id="1049257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58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59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260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</a:t>
            </a:r>
            <a:endParaRPr dirty="0" sz="1400" lang="en-US"/>
          </a:p>
        </p:txBody>
      </p:sp>
      <p:sp>
        <p:nvSpPr>
          <p:cNvPr id="1049261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62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63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264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</a:t>
            </a:r>
            <a:endParaRPr dirty="0" sz="1400" lang="en-US"/>
          </a:p>
        </p:txBody>
      </p:sp>
      <p:sp>
        <p:nvSpPr>
          <p:cNvPr id="1049265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66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67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268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</a:t>
            </a:r>
            <a:endParaRPr dirty="0" sz="1400" lang="en-US"/>
          </a:p>
        </p:txBody>
      </p:sp>
      <p:sp>
        <p:nvSpPr>
          <p:cNvPr id="1049269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14F52"/>
        </a:solidFill>
      </p:bgPr>
    </p:bg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3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274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275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19 / 50</a:t>
            </a:r>
            <a:endParaRPr dirty="0" sz="1000" lang="en-US"/>
          </a:p>
        </p:txBody>
      </p:sp>
      <p:sp>
        <p:nvSpPr>
          <p:cNvPr id="1049276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part of a neuron is the:</a:t>
            </a:r>
            <a:endParaRPr dirty="0" sz="1600" lang="en-US"/>
          </a:p>
        </p:txBody>
      </p:sp>
      <p:sp>
        <p:nvSpPr>
          <p:cNvPr id="1049277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278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279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9280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Axon</a:t>
            </a:r>
            <a:endParaRPr dirty="0" sz="2000" lang="en-US"/>
          </a:p>
        </p:txBody>
      </p:sp>
      <p:sp>
        <p:nvSpPr>
          <p:cNvPr id="1049281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282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283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axon is a long, thread-like extension that carries nerve impulses away from the cell body.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7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288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/ 50</a:t>
            </a:r>
            <a:endParaRPr dirty="0" sz="1100" lang="en-US"/>
          </a:p>
        </p:txBody>
      </p:sp>
      <p:sp>
        <p:nvSpPr>
          <p:cNvPr id="1049289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Dendrites mainly:</a:t>
            </a:r>
            <a:endParaRPr dirty="0" sz="2500" lang="en-US"/>
          </a:p>
        </p:txBody>
      </p:sp>
      <p:sp>
        <p:nvSpPr>
          <p:cNvPr id="1049290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91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92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293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signals away</a:t>
            </a:r>
            <a:endParaRPr dirty="0" sz="1400" lang="en-US"/>
          </a:p>
        </p:txBody>
      </p:sp>
      <p:sp>
        <p:nvSpPr>
          <p:cNvPr id="1049294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95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296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297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signals</a:t>
            </a:r>
            <a:endParaRPr dirty="0" sz="1400" lang="en-US"/>
          </a:p>
        </p:txBody>
      </p:sp>
      <p:sp>
        <p:nvSpPr>
          <p:cNvPr id="1049298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299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00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301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food</a:t>
            </a:r>
            <a:endParaRPr dirty="0" sz="1400" lang="en-US"/>
          </a:p>
        </p:txBody>
      </p:sp>
      <p:sp>
        <p:nvSpPr>
          <p:cNvPr id="1049302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303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04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305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oxygen</a:t>
            </a:r>
            <a:endParaRPr dirty="0" sz="1400" lang="en-US"/>
          </a:p>
        </p:txBody>
      </p:sp>
      <p:sp>
        <p:nvSpPr>
          <p:cNvPr id="1049306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14F52"/>
        </a:solidFill>
      </p:bgPr>
    </p:bg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0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311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312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20 / 50</a:t>
            </a:r>
            <a:endParaRPr dirty="0" sz="1000" lang="en-US"/>
          </a:p>
        </p:txBody>
      </p:sp>
      <p:sp>
        <p:nvSpPr>
          <p:cNvPr id="1049313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mainly:</a:t>
            </a:r>
            <a:endParaRPr dirty="0" sz="1600" lang="en-US"/>
          </a:p>
        </p:txBody>
      </p:sp>
      <p:sp>
        <p:nvSpPr>
          <p:cNvPr id="1049314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315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316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317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 signals</a:t>
            </a:r>
            <a:endParaRPr dirty="0" sz="2000" lang="en-US"/>
          </a:p>
        </p:txBody>
      </p:sp>
      <p:sp>
        <p:nvSpPr>
          <p:cNvPr id="1049318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319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320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are short branched fibres that receive nerve impulses from other neurons.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4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325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 / 50</a:t>
            </a:r>
            <a:endParaRPr dirty="0" sz="1100" lang="en-US"/>
          </a:p>
        </p:txBody>
      </p:sp>
      <p:sp>
        <p:nvSpPr>
          <p:cNvPr id="1049326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musculoskeletal system consists of:</a:t>
            </a:r>
            <a:endParaRPr dirty="0" sz="2500" lang="en-US"/>
          </a:p>
        </p:txBody>
      </p:sp>
      <p:sp>
        <p:nvSpPr>
          <p:cNvPr id="1049327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328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29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330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only</a:t>
            </a:r>
            <a:endParaRPr dirty="0" sz="1400" lang="en-US"/>
          </a:p>
        </p:txBody>
      </p:sp>
      <p:sp>
        <p:nvSpPr>
          <p:cNvPr id="1049331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332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33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334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only</a:t>
            </a:r>
            <a:endParaRPr dirty="0" sz="1400" lang="en-US"/>
          </a:p>
        </p:txBody>
      </p:sp>
      <p:sp>
        <p:nvSpPr>
          <p:cNvPr id="1049335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336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37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338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Bones, muscles and joints</a:t>
            </a:r>
            <a:endParaRPr dirty="0" sz="1400" lang="en-US"/>
          </a:p>
        </p:txBody>
      </p:sp>
      <p:sp>
        <p:nvSpPr>
          <p:cNvPr id="1049339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340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41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342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and nerves</a:t>
            </a:r>
            <a:endParaRPr dirty="0" sz="1400" lang="en-US"/>
          </a:p>
        </p:txBody>
      </p:sp>
      <p:sp>
        <p:nvSpPr>
          <p:cNvPr id="1049343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14F52"/>
        </a:solidFill>
      </p:bgPr>
    </p:bg>
    <p:spTree>
      <p:nvGrpSpPr>
        <p:cNvPr id="2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7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348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349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21 / 50</a:t>
            </a:r>
            <a:endParaRPr dirty="0" sz="1000" lang="en-US"/>
          </a:p>
        </p:txBody>
      </p:sp>
      <p:sp>
        <p:nvSpPr>
          <p:cNvPr id="1049350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musculoskeletal system consists of:</a:t>
            </a:r>
            <a:endParaRPr dirty="0" sz="1600" lang="en-US"/>
          </a:p>
        </p:txBody>
      </p:sp>
      <p:sp>
        <p:nvSpPr>
          <p:cNvPr id="1049351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352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353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9354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Bones, muscles and joints</a:t>
            </a:r>
            <a:endParaRPr dirty="0" sz="2000" lang="en-US"/>
          </a:p>
        </p:txBody>
      </p:sp>
      <p:sp>
        <p:nvSpPr>
          <p:cNvPr id="1049355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356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357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musculoskeletal system is the combination of bones, muscles, and joints that enables movement.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61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362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 / 50</a:t>
            </a:r>
            <a:endParaRPr dirty="0" sz="1100" lang="en-US"/>
          </a:p>
        </p:txBody>
      </p:sp>
      <p:sp>
        <p:nvSpPr>
          <p:cNvPr id="1049363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Muscles pull bones using:</a:t>
            </a:r>
            <a:endParaRPr dirty="0" sz="2500" lang="en-US"/>
          </a:p>
        </p:txBody>
      </p:sp>
      <p:sp>
        <p:nvSpPr>
          <p:cNvPr id="1049364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365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66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367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Ligaments</a:t>
            </a:r>
            <a:endParaRPr dirty="0" sz="1400" lang="en-US"/>
          </a:p>
        </p:txBody>
      </p:sp>
      <p:sp>
        <p:nvSpPr>
          <p:cNvPr id="1049368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369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70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371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Tendons</a:t>
            </a:r>
            <a:endParaRPr dirty="0" sz="1400" lang="en-US"/>
          </a:p>
        </p:txBody>
      </p:sp>
      <p:sp>
        <p:nvSpPr>
          <p:cNvPr id="1049372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373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74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375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</a:t>
            </a:r>
            <a:endParaRPr dirty="0" sz="1400" lang="en-US"/>
          </a:p>
        </p:txBody>
      </p:sp>
      <p:sp>
        <p:nvSpPr>
          <p:cNvPr id="1049376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377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378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379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</a:t>
            </a:r>
            <a:endParaRPr dirty="0" sz="1400" lang="en-US"/>
          </a:p>
        </p:txBody>
      </p:sp>
      <p:sp>
        <p:nvSpPr>
          <p:cNvPr id="1049380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14F52"/>
        </a:solidFill>
      </p:bgPr>
    </p:bg>
    <p:spTree>
      <p:nvGrpSpPr>
        <p:cNvPr id="2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84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385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386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22 / 50</a:t>
            </a:r>
            <a:endParaRPr dirty="0" sz="1000" lang="en-US"/>
          </a:p>
        </p:txBody>
      </p:sp>
      <p:sp>
        <p:nvSpPr>
          <p:cNvPr id="1049387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pull bones using:</a:t>
            </a:r>
            <a:endParaRPr dirty="0" sz="1600" lang="en-US"/>
          </a:p>
        </p:txBody>
      </p:sp>
      <p:sp>
        <p:nvSpPr>
          <p:cNvPr id="1049388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389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390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391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Tendons</a:t>
            </a:r>
            <a:endParaRPr dirty="0" sz="2000" lang="en-US"/>
          </a:p>
        </p:txBody>
      </p:sp>
      <p:sp>
        <p:nvSpPr>
          <p:cNvPr id="1049392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393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394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Tendons transmit the force of a contracting muscle to the bone, pulling it into motion.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98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399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 / 50</a:t>
            </a:r>
            <a:endParaRPr dirty="0" sz="1100" lang="en-US"/>
          </a:p>
        </p:txBody>
      </p:sp>
      <p:sp>
        <p:nvSpPr>
          <p:cNvPr id="1049400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joint allows movement in all directions?</a:t>
            </a:r>
            <a:endParaRPr dirty="0" sz="2500" lang="en-US"/>
          </a:p>
        </p:txBody>
      </p:sp>
      <p:sp>
        <p:nvSpPr>
          <p:cNvPr id="1049401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02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03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404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</a:t>
            </a:r>
            <a:endParaRPr dirty="0" sz="1400" lang="en-US"/>
          </a:p>
        </p:txBody>
      </p:sp>
      <p:sp>
        <p:nvSpPr>
          <p:cNvPr id="1049405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06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07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408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dirty="0" sz="1400" lang="en-US"/>
          </a:p>
        </p:txBody>
      </p:sp>
      <p:sp>
        <p:nvSpPr>
          <p:cNvPr id="1049409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10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11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412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socket</a:t>
            </a:r>
            <a:endParaRPr dirty="0" sz="1400" lang="en-US"/>
          </a:p>
        </p:txBody>
      </p:sp>
      <p:sp>
        <p:nvSpPr>
          <p:cNvPr id="1049413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14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15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416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dirty="0" sz="1400" lang="en-US"/>
          </a:p>
        </p:txBody>
      </p:sp>
      <p:sp>
        <p:nvSpPr>
          <p:cNvPr id="1049417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14F52"/>
        </a:solidFill>
      </p:bgPr>
    </p:bg>
    <p:spTree>
      <p:nvGrpSpPr>
        <p:cNvPr id="2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21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422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423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23 / 50</a:t>
            </a:r>
            <a:endParaRPr dirty="0" sz="1000" lang="en-US"/>
          </a:p>
        </p:txBody>
      </p:sp>
      <p:sp>
        <p:nvSpPr>
          <p:cNvPr id="1049424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joint allows movement in all directions?</a:t>
            </a:r>
            <a:endParaRPr dirty="0" sz="1600" lang="en-US"/>
          </a:p>
        </p:txBody>
      </p:sp>
      <p:sp>
        <p:nvSpPr>
          <p:cNvPr id="1049425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426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427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9428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 and socket</a:t>
            </a:r>
            <a:endParaRPr dirty="0" sz="2000" lang="en-US"/>
          </a:p>
        </p:txBody>
      </p:sp>
      <p:sp>
        <p:nvSpPr>
          <p:cNvPr id="1049429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430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431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ball-and-socket joint, like the shoulder, allows free movement in almost every direction.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35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436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 / 50</a:t>
            </a:r>
            <a:endParaRPr dirty="0" sz="1100" lang="en-US"/>
          </a:p>
        </p:txBody>
      </p:sp>
      <p:sp>
        <p:nvSpPr>
          <p:cNvPr id="1049437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shoulder is a:</a:t>
            </a:r>
            <a:endParaRPr dirty="0" sz="2500" lang="en-US"/>
          </a:p>
        </p:txBody>
      </p:sp>
      <p:sp>
        <p:nvSpPr>
          <p:cNvPr id="1049438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39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40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441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joint</a:t>
            </a:r>
            <a:endParaRPr dirty="0" sz="1400" lang="en-US"/>
          </a:p>
        </p:txBody>
      </p:sp>
      <p:sp>
        <p:nvSpPr>
          <p:cNvPr id="1049442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43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44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445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joint</a:t>
            </a:r>
            <a:endParaRPr dirty="0" sz="1400" lang="en-US"/>
          </a:p>
        </p:txBody>
      </p:sp>
      <p:sp>
        <p:nvSpPr>
          <p:cNvPr id="1049446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47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48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449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socket joint</a:t>
            </a:r>
            <a:endParaRPr dirty="0" sz="1400" lang="en-US"/>
          </a:p>
        </p:txBody>
      </p:sp>
      <p:sp>
        <p:nvSpPr>
          <p:cNvPr id="1049450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51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52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453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joint</a:t>
            </a:r>
            <a:endParaRPr dirty="0" sz="1400" lang="en-US"/>
          </a:p>
        </p:txBody>
      </p:sp>
      <p:sp>
        <p:nvSpPr>
          <p:cNvPr id="1049454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14F52"/>
        </a:solidFill>
      </p:bgPr>
    </p:bg>
    <p:spTree>
      <p:nvGrpSpPr>
        <p:cNvPr id="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58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459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460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24 / 50</a:t>
            </a:r>
            <a:endParaRPr dirty="0" sz="1000" lang="en-US"/>
          </a:p>
        </p:txBody>
      </p:sp>
      <p:sp>
        <p:nvSpPr>
          <p:cNvPr id="1049461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shoulder is a:</a:t>
            </a:r>
            <a:endParaRPr dirty="0" sz="1600" lang="en-US"/>
          </a:p>
        </p:txBody>
      </p:sp>
      <p:sp>
        <p:nvSpPr>
          <p:cNvPr id="1049462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463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464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9465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 and socket joint</a:t>
            </a:r>
            <a:endParaRPr dirty="0" sz="2000" lang="en-US"/>
          </a:p>
        </p:txBody>
      </p:sp>
      <p:sp>
        <p:nvSpPr>
          <p:cNvPr id="1049466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467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468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rounded end of the arm bone fits into a socket, making the shoulder a ball-and-socket joint.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72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473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 / 50</a:t>
            </a:r>
            <a:endParaRPr dirty="0" sz="1100" lang="en-US"/>
          </a:p>
        </p:txBody>
      </p:sp>
      <p:sp>
        <p:nvSpPr>
          <p:cNvPr id="1049474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elbow is a:</a:t>
            </a:r>
            <a:endParaRPr dirty="0" sz="2500" lang="en-US"/>
          </a:p>
        </p:txBody>
      </p:sp>
      <p:sp>
        <p:nvSpPr>
          <p:cNvPr id="1049475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76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77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478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joint</a:t>
            </a:r>
            <a:endParaRPr dirty="0" sz="1400" lang="en-US"/>
          </a:p>
        </p:txBody>
      </p:sp>
      <p:sp>
        <p:nvSpPr>
          <p:cNvPr id="1049479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80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81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482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joint</a:t>
            </a:r>
            <a:endParaRPr dirty="0" sz="1400" lang="en-US"/>
          </a:p>
        </p:txBody>
      </p:sp>
      <p:sp>
        <p:nvSpPr>
          <p:cNvPr id="1049483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84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85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486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socket joint</a:t>
            </a:r>
            <a:endParaRPr dirty="0" sz="1400" lang="en-US"/>
          </a:p>
        </p:txBody>
      </p:sp>
      <p:sp>
        <p:nvSpPr>
          <p:cNvPr id="1049487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488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489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490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joint</a:t>
            </a:r>
            <a:endParaRPr dirty="0" sz="1400" lang="en-US"/>
          </a:p>
        </p:txBody>
      </p:sp>
      <p:sp>
        <p:nvSpPr>
          <p:cNvPr id="1049491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14F52"/>
        </a:solidFill>
      </p:bgPr>
    </p:bg>
    <p:spTree>
      <p:nvGrpSpPr>
        <p:cNvPr id="2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5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496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497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25 / 50</a:t>
            </a:r>
            <a:endParaRPr dirty="0" sz="1000" lang="en-US"/>
          </a:p>
        </p:txBody>
      </p:sp>
      <p:sp>
        <p:nvSpPr>
          <p:cNvPr id="1049498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is a:</a:t>
            </a:r>
            <a:endParaRPr dirty="0" sz="1600" lang="en-US"/>
          </a:p>
        </p:txBody>
      </p:sp>
      <p:sp>
        <p:nvSpPr>
          <p:cNvPr id="1049499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500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501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502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Hinge joint</a:t>
            </a:r>
            <a:endParaRPr dirty="0" sz="2000" lang="en-US"/>
          </a:p>
        </p:txBody>
      </p:sp>
      <p:sp>
        <p:nvSpPr>
          <p:cNvPr id="1049503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504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505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moves back and forth in one plane like a door hinge, so it's a hinge joint.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2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9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510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 / 50</a:t>
            </a:r>
            <a:endParaRPr dirty="0" sz="1100" lang="en-US"/>
          </a:p>
        </p:txBody>
      </p:sp>
      <p:sp>
        <p:nvSpPr>
          <p:cNvPr id="1049511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neck has a:</a:t>
            </a:r>
            <a:endParaRPr dirty="0" sz="2500" lang="en-US"/>
          </a:p>
        </p:txBody>
      </p:sp>
      <p:sp>
        <p:nvSpPr>
          <p:cNvPr id="1049512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13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14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515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joint</a:t>
            </a:r>
            <a:endParaRPr dirty="0" sz="1400" lang="en-US"/>
          </a:p>
        </p:txBody>
      </p:sp>
      <p:sp>
        <p:nvSpPr>
          <p:cNvPr id="1049516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17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18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519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joint</a:t>
            </a:r>
            <a:endParaRPr dirty="0" sz="1400" lang="en-US"/>
          </a:p>
        </p:txBody>
      </p:sp>
      <p:sp>
        <p:nvSpPr>
          <p:cNvPr id="1049520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21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22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523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joint</a:t>
            </a:r>
            <a:endParaRPr dirty="0" sz="1400" lang="en-US"/>
          </a:p>
        </p:txBody>
      </p:sp>
      <p:sp>
        <p:nvSpPr>
          <p:cNvPr id="1049524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25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26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527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socket joint</a:t>
            </a:r>
            <a:endParaRPr dirty="0" sz="1400" lang="en-US"/>
          </a:p>
        </p:txBody>
      </p:sp>
      <p:sp>
        <p:nvSpPr>
          <p:cNvPr id="1049528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14F52"/>
        </a:solidFill>
      </p:bgPr>
    </p:bg>
    <p:spTree>
      <p:nvGrpSpPr>
        <p:cNvPr id="2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2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533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534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26 / 50</a:t>
            </a:r>
            <a:endParaRPr dirty="0" sz="1000" lang="en-US"/>
          </a:p>
        </p:txBody>
      </p:sp>
      <p:sp>
        <p:nvSpPr>
          <p:cNvPr id="1049535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neck has a:</a:t>
            </a:r>
            <a:endParaRPr dirty="0" sz="1600" lang="en-US"/>
          </a:p>
        </p:txBody>
      </p:sp>
      <p:sp>
        <p:nvSpPr>
          <p:cNvPr id="1049536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537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538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9539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joint</a:t>
            </a:r>
            <a:endParaRPr dirty="0" sz="2000" lang="en-US"/>
          </a:p>
        </p:txBody>
      </p:sp>
      <p:sp>
        <p:nvSpPr>
          <p:cNvPr id="1049540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541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542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pivot joint in the neck lets the head rotate from side to side.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2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46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547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 / 50</a:t>
            </a:r>
            <a:endParaRPr dirty="0" sz="1100" lang="en-US"/>
          </a:p>
        </p:txBody>
      </p:sp>
      <p:sp>
        <p:nvSpPr>
          <p:cNvPr id="1049548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joint is found in the skull?</a:t>
            </a:r>
            <a:endParaRPr dirty="0" sz="2500" lang="en-US"/>
          </a:p>
        </p:txBody>
      </p:sp>
      <p:sp>
        <p:nvSpPr>
          <p:cNvPr id="1049549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50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51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552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dirty="0" sz="1400" lang="en-US"/>
          </a:p>
        </p:txBody>
      </p:sp>
      <p:sp>
        <p:nvSpPr>
          <p:cNvPr id="1049553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54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55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556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</a:t>
            </a:r>
            <a:endParaRPr dirty="0" sz="1400" lang="en-US"/>
          </a:p>
        </p:txBody>
      </p:sp>
      <p:sp>
        <p:nvSpPr>
          <p:cNvPr id="1049557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58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59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560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socket</a:t>
            </a:r>
            <a:endParaRPr dirty="0" sz="1400" lang="en-US"/>
          </a:p>
        </p:txBody>
      </p:sp>
      <p:sp>
        <p:nvSpPr>
          <p:cNvPr id="1049561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62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63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564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dirty="0" sz="1400" lang="en-US"/>
          </a:p>
        </p:txBody>
      </p:sp>
      <p:sp>
        <p:nvSpPr>
          <p:cNvPr id="1049565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14F52"/>
        </a:solidFill>
      </p:bgPr>
    </p:bg>
    <p:spTree>
      <p:nvGrpSpPr>
        <p:cNvPr id="2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69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570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571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27 / 50</a:t>
            </a:r>
            <a:endParaRPr dirty="0" sz="1000" lang="en-US"/>
          </a:p>
        </p:txBody>
      </p:sp>
      <p:sp>
        <p:nvSpPr>
          <p:cNvPr id="1049572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joint is found in the skull?</a:t>
            </a:r>
            <a:endParaRPr dirty="0" sz="1600" lang="en-US"/>
          </a:p>
        </p:txBody>
      </p:sp>
      <p:sp>
        <p:nvSpPr>
          <p:cNvPr id="1049573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574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575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800" lang="en-US"/>
          </a:p>
        </p:txBody>
      </p:sp>
      <p:sp>
        <p:nvSpPr>
          <p:cNvPr id="1049576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</a:t>
            </a:r>
            <a:endParaRPr dirty="0" sz="2000" lang="en-US"/>
          </a:p>
        </p:txBody>
      </p:sp>
      <p:sp>
        <p:nvSpPr>
          <p:cNvPr id="1049577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578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579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bones are joined by fixed (immovable) joints that protect the brain.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3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584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 / 50</a:t>
            </a:r>
            <a:endParaRPr dirty="0" sz="1100" lang="en-US"/>
          </a:p>
        </p:txBody>
      </p:sp>
      <p:sp>
        <p:nvSpPr>
          <p:cNvPr id="1049585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joints do not allow:</a:t>
            </a:r>
            <a:endParaRPr dirty="0" sz="2500" lang="en-US"/>
          </a:p>
        </p:txBody>
      </p:sp>
      <p:sp>
        <p:nvSpPr>
          <p:cNvPr id="1049586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87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88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589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dirty="0" sz="1400" lang="en-US"/>
          </a:p>
        </p:txBody>
      </p:sp>
      <p:sp>
        <p:nvSpPr>
          <p:cNvPr id="1049590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91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92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593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dirty="0" sz="1400" lang="en-US"/>
          </a:p>
        </p:txBody>
      </p:sp>
      <p:sp>
        <p:nvSpPr>
          <p:cNvPr id="1049594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95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596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597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dirty="0" sz="1400" lang="en-US"/>
          </a:p>
        </p:txBody>
      </p:sp>
      <p:sp>
        <p:nvSpPr>
          <p:cNvPr id="1049598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599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00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601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dirty="0" sz="1400" lang="en-US"/>
          </a:p>
        </p:txBody>
      </p:sp>
      <p:sp>
        <p:nvSpPr>
          <p:cNvPr id="1049602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14F52"/>
        </a:solidFill>
      </p:bgPr>
    </p:bg>
    <p:spTree>
      <p:nvGrpSpPr>
        <p:cNvPr id="2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6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607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608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28 / 50</a:t>
            </a:r>
            <a:endParaRPr dirty="0" sz="1000" lang="en-US"/>
          </a:p>
        </p:txBody>
      </p:sp>
      <p:sp>
        <p:nvSpPr>
          <p:cNvPr id="1049609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joints do not allow:</a:t>
            </a:r>
            <a:endParaRPr dirty="0" sz="1600" lang="en-US"/>
          </a:p>
        </p:txBody>
      </p:sp>
      <p:sp>
        <p:nvSpPr>
          <p:cNvPr id="1049610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611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612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613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</a:t>
            </a:r>
            <a:endParaRPr dirty="0" sz="2000" lang="en-US"/>
          </a:p>
        </p:txBody>
      </p:sp>
      <p:sp>
        <p:nvSpPr>
          <p:cNvPr id="1049614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615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616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joints hold bones firmly in place and do not permit any movement between them.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2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0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621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29 / 50</a:t>
            </a:r>
            <a:endParaRPr dirty="0" sz="1100" lang="en-US"/>
          </a:p>
        </p:txBody>
      </p:sp>
      <p:sp>
        <p:nvSpPr>
          <p:cNvPr id="1049622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knee is mainly a:</a:t>
            </a:r>
            <a:endParaRPr dirty="0" sz="2500" lang="en-US"/>
          </a:p>
        </p:txBody>
      </p:sp>
      <p:sp>
        <p:nvSpPr>
          <p:cNvPr id="1049623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624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25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626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joint</a:t>
            </a:r>
            <a:endParaRPr dirty="0" sz="1400" lang="en-US"/>
          </a:p>
        </p:txBody>
      </p:sp>
      <p:sp>
        <p:nvSpPr>
          <p:cNvPr id="1049627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628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29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630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joint</a:t>
            </a:r>
            <a:endParaRPr dirty="0" sz="1400" lang="en-US"/>
          </a:p>
        </p:txBody>
      </p:sp>
      <p:sp>
        <p:nvSpPr>
          <p:cNvPr id="1049631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632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33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634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joint</a:t>
            </a:r>
            <a:endParaRPr dirty="0" sz="1400" lang="en-US"/>
          </a:p>
        </p:txBody>
      </p:sp>
      <p:sp>
        <p:nvSpPr>
          <p:cNvPr id="1049635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636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37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638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socket joint</a:t>
            </a:r>
            <a:endParaRPr dirty="0" sz="1400" lang="en-US"/>
          </a:p>
        </p:txBody>
      </p:sp>
      <p:sp>
        <p:nvSpPr>
          <p:cNvPr id="1049639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14F52"/>
        </a:solidFill>
      </p:bgPr>
    </p:bg>
    <p:spTree>
      <p:nvGrpSpPr>
        <p:cNvPr id="2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43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644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645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29 / 50</a:t>
            </a:r>
            <a:endParaRPr dirty="0" sz="1000" lang="en-US"/>
          </a:p>
        </p:txBody>
      </p:sp>
      <p:sp>
        <p:nvSpPr>
          <p:cNvPr id="1049646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knee is mainly a:</a:t>
            </a:r>
            <a:endParaRPr dirty="0" sz="1600" lang="en-US"/>
          </a:p>
        </p:txBody>
      </p:sp>
      <p:sp>
        <p:nvSpPr>
          <p:cNvPr id="1049647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648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649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800" lang="en-US"/>
          </a:p>
        </p:txBody>
      </p:sp>
      <p:sp>
        <p:nvSpPr>
          <p:cNvPr id="1049650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Hinge joint</a:t>
            </a:r>
            <a:endParaRPr dirty="0" sz="2000" lang="en-US"/>
          </a:p>
        </p:txBody>
      </p:sp>
      <p:sp>
        <p:nvSpPr>
          <p:cNvPr id="1049651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652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653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knee bends and straightens in one plane, making it a hinge joint like the elbow.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2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57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658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30 / 50</a:t>
            </a:r>
            <a:endParaRPr dirty="0" sz="1100" lang="en-US"/>
          </a:p>
        </p:txBody>
      </p:sp>
      <p:sp>
        <p:nvSpPr>
          <p:cNvPr id="1049659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 and socket joints allow:</a:t>
            </a:r>
            <a:endParaRPr dirty="0" sz="2500" lang="en-US"/>
          </a:p>
        </p:txBody>
      </p:sp>
      <p:sp>
        <p:nvSpPr>
          <p:cNvPr id="1049660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661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62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663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movement</a:t>
            </a:r>
            <a:endParaRPr dirty="0" sz="1400" lang="en-US"/>
          </a:p>
        </p:txBody>
      </p:sp>
      <p:sp>
        <p:nvSpPr>
          <p:cNvPr id="1049664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665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66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667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direction only</a:t>
            </a:r>
            <a:endParaRPr dirty="0" sz="1400" lang="en-US"/>
          </a:p>
        </p:txBody>
      </p:sp>
      <p:sp>
        <p:nvSpPr>
          <p:cNvPr id="1049668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669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70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671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movement in many directions</a:t>
            </a:r>
            <a:endParaRPr dirty="0" sz="1400" lang="en-US"/>
          </a:p>
        </p:txBody>
      </p:sp>
      <p:sp>
        <p:nvSpPr>
          <p:cNvPr id="1049672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673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74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675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movement only</a:t>
            </a:r>
            <a:endParaRPr dirty="0" sz="1400" lang="en-US"/>
          </a:p>
        </p:txBody>
      </p:sp>
      <p:sp>
        <p:nvSpPr>
          <p:cNvPr id="1049676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14F52"/>
        </a:solidFill>
      </p:bgPr>
    </p:bg>
    <p:spTree>
      <p:nvGrpSpPr>
        <p:cNvPr id="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80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681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682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30 / 50</a:t>
            </a:r>
            <a:endParaRPr dirty="0" sz="1000" lang="en-US"/>
          </a:p>
        </p:txBody>
      </p:sp>
      <p:sp>
        <p:nvSpPr>
          <p:cNvPr id="1049683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socket joints allow:</a:t>
            </a:r>
            <a:endParaRPr dirty="0" sz="1600" lang="en-US"/>
          </a:p>
        </p:txBody>
      </p:sp>
      <p:sp>
        <p:nvSpPr>
          <p:cNvPr id="1049684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685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686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9687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movement in many directions</a:t>
            </a:r>
            <a:endParaRPr dirty="0" sz="2000" lang="en-US"/>
          </a:p>
        </p:txBody>
      </p:sp>
      <p:sp>
        <p:nvSpPr>
          <p:cNvPr id="1049688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689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690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ball-shaped end rotating within a socket allows movement in multiple directions.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94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695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31 / 50</a:t>
            </a:r>
            <a:endParaRPr dirty="0" sz="1100" lang="en-US"/>
          </a:p>
        </p:txBody>
      </p:sp>
      <p:sp>
        <p:nvSpPr>
          <p:cNvPr id="1049696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backbone is also called:</a:t>
            </a:r>
            <a:endParaRPr dirty="0" sz="2500" lang="en-US"/>
          </a:p>
        </p:txBody>
      </p:sp>
      <p:sp>
        <p:nvSpPr>
          <p:cNvPr id="1049697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698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699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700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Sternum</a:t>
            </a:r>
            <a:endParaRPr dirty="0" sz="1400" lang="en-US"/>
          </a:p>
        </p:txBody>
      </p:sp>
      <p:sp>
        <p:nvSpPr>
          <p:cNvPr id="1049701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02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03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704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Vertebral column</a:t>
            </a:r>
            <a:endParaRPr dirty="0" sz="1400" lang="en-US"/>
          </a:p>
        </p:txBody>
      </p:sp>
      <p:sp>
        <p:nvSpPr>
          <p:cNvPr id="1049705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06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07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708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 cage</a:t>
            </a:r>
            <a:endParaRPr dirty="0" sz="1400" lang="en-US"/>
          </a:p>
        </p:txBody>
      </p:sp>
      <p:sp>
        <p:nvSpPr>
          <p:cNvPr id="1049709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10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11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712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Femur</a:t>
            </a:r>
            <a:endParaRPr dirty="0" sz="1400" lang="en-US"/>
          </a:p>
        </p:txBody>
      </p:sp>
      <p:sp>
        <p:nvSpPr>
          <p:cNvPr id="1049713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14F52"/>
        </a:solidFill>
      </p:bgPr>
    </p:bg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17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718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719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31 / 50</a:t>
            </a:r>
            <a:endParaRPr dirty="0" sz="1000" lang="en-US"/>
          </a:p>
        </p:txBody>
      </p:sp>
      <p:sp>
        <p:nvSpPr>
          <p:cNvPr id="1049720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is also called:</a:t>
            </a:r>
            <a:endParaRPr dirty="0" sz="1600" lang="en-US"/>
          </a:p>
        </p:txBody>
      </p:sp>
      <p:sp>
        <p:nvSpPr>
          <p:cNvPr id="1049721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722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723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724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Vertebral column</a:t>
            </a:r>
            <a:endParaRPr dirty="0" sz="2000" lang="en-US"/>
          </a:p>
        </p:txBody>
      </p:sp>
      <p:sp>
        <p:nvSpPr>
          <p:cNvPr id="1049725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726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727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backbone, made of small bones called vertebrae, is known as the vertebral column.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31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732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32 / 50</a:t>
            </a:r>
            <a:endParaRPr dirty="0" sz="1100" lang="en-US"/>
          </a:p>
        </p:txBody>
      </p:sp>
      <p:sp>
        <p:nvSpPr>
          <p:cNvPr id="1049733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rib cage protects the:</a:t>
            </a:r>
            <a:endParaRPr dirty="0" sz="2500" lang="en-US"/>
          </a:p>
        </p:txBody>
      </p:sp>
      <p:sp>
        <p:nvSpPr>
          <p:cNvPr id="1049734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35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36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737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</a:t>
            </a:r>
            <a:endParaRPr dirty="0" sz="1400" lang="en-US"/>
          </a:p>
        </p:txBody>
      </p:sp>
      <p:sp>
        <p:nvSpPr>
          <p:cNvPr id="1049738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39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40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741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and lungs</a:t>
            </a:r>
            <a:endParaRPr dirty="0" sz="1400" lang="en-US"/>
          </a:p>
        </p:txBody>
      </p:sp>
      <p:sp>
        <p:nvSpPr>
          <p:cNvPr id="1049742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43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44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745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only</a:t>
            </a:r>
            <a:endParaRPr dirty="0" sz="1400" lang="en-US"/>
          </a:p>
        </p:txBody>
      </p:sp>
      <p:sp>
        <p:nvSpPr>
          <p:cNvPr id="1049746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47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48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749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dirty="0" sz="1400" lang="en-US"/>
          </a:p>
        </p:txBody>
      </p:sp>
      <p:sp>
        <p:nvSpPr>
          <p:cNvPr id="1049750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14F52"/>
        </a:solidFill>
      </p:bgPr>
    </p:bg>
    <p:spTree>
      <p:nvGrpSpPr>
        <p:cNvPr id="2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54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755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756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32 / 50</a:t>
            </a:r>
            <a:endParaRPr dirty="0" sz="1000" lang="en-US"/>
          </a:p>
        </p:txBody>
      </p:sp>
      <p:sp>
        <p:nvSpPr>
          <p:cNvPr id="1049757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rib cage protects the:</a:t>
            </a:r>
            <a:endParaRPr dirty="0" sz="1600" lang="en-US"/>
          </a:p>
        </p:txBody>
      </p:sp>
      <p:sp>
        <p:nvSpPr>
          <p:cNvPr id="1049758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759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760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761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and lungs</a:t>
            </a:r>
            <a:endParaRPr dirty="0" sz="2000" lang="en-US"/>
          </a:p>
        </p:txBody>
      </p:sp>
      <p:sp>
        <p:nvSpPr>
          <p:cNvPr id="1049762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763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764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curved ribs form a protective cage around the delicate heart and lungs.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3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68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769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33 / 50</a:t>
            </a:r>
            <a:endParaRPr dirty="0" sz="1100" lang="en-US"/>
          </a:p>
        </p:txBody>
      </p:sp>
      <p:sp>
        <p:nvSpPr>
          <p:cNvPr id="1049770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Adults have how many pairs of ribs?</a:t>
            </a:r>
            <a:endParaRPr dirty="0" sz="2500" lang="en-US"/>
          </a:p>
        </p:txBody>
      </p:sp>
      <p:sp>
        <p:nvSpPr>
          <p:cNvPr id="1049771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72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73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774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1400" lang="en-US"/>
          </a:p>
        </p:txBody>
      </p:sp>
      <p:sp>
        <p:nvSpPr>
          <p:cNvPr id="1049775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76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77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778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dirty="0" sz="1400" lang="en-US"/>
          </a:p>
        </p:txBody>
      </p:sp>
      <p:sp>
        <p:nvSpPr>
          <p:cNvPr id="1049779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80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81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782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dirty="0" sz="1400" lang="en-US"/>
          </a:p>
        </p:txBody>
      </p:sp>
      <p:sp>
        <p:nvSpPr>
          <p:cNvPr id="1049783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784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785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786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dirty="0" sz="1400" lang="en-US"/>
          </a:p>
        </p:txBody>
      </p:sp>
      <p:sp>
        <p:nvSpPr>
          <p:cNvPr id="1049787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14F52"/>
        </a:solidFill>
      </p:bgPr>
    </p:bg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91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792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793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33 / 50</a:t>
            </a:r>
            <a:endParaRPr dirty="0" sz="1000" lang="en-US"/>
          </a:p>
        </p:txBody>
      </p:sp>
      <p:sp>
        <p:nvSpPr>
          <p:cNvPr id="1049794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have how many pairs of ribs?</a:t>
            </a:r>
            <a:endParaRPr dirty="0" sz="1600" lang="en-US"/>
          </a:p>
        </p:txBody>
      </p:sp>
      <p:sp>
        <p:nvSpPr>
          <p:cNvPr id="1049795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796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797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9798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dirty="0" sz="2000" lang="en-US"/>
          </a:p>
        </p:txBody>
      </p:sp>
      <p:sp>
        <p:nvSpPr>
          <p:cNvPr id="1049799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800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801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rib cage normally consists of 12 pairs of ribs.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3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05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806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34 / 50</a:t>
            </a:r>
            <a:endParaRPr dirty="0" sz="1100" lang="en-US"/>
          </a:p>
        </p:txBody>
      </p:sp>
      <p:sp>
        <p:nvSpPr>
          <p:cNvPr id="1049807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breastbone is called:</a:t>
            </a:r>
            <a:endParaRPr dirty="0" sz="2500" lang="en-US"/>
          </a:p>
        </p:txBody>
      </p:sp>
      <p:sp>
        <p:nvSpPr>
          <p:cNvPr id="1049808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09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10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811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Femur</a:t>
            </a:r>
            <a:endParaRPr dirty="0" sz="1400" lang="en-US"/>
          </a:p>
        </p:txBody>
      </p:sp>
      <p:sp>
        <p:nvSpPr>
          <p:cNvPr id="1049812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13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14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815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Sternum</a:t>
            </a:r>
            <a:endParaRPr dirty="0" sz="1400" lang="en-US"/>
          </a:p>
        </p:txBody>
      </p:sp>
      <p:sp>
        <p:nvSpPr>
          <p:cNvPr id="1049816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17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18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819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dirty="0" sz="1400" lang="en-US"/>
          </a:p>
        </p:txBody>
      </p:sp>
      <p:sp>
        <p:nvSpPr>
          <p:cNvPr id="1049820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21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22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823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Tibia</a:t>
            </a:r>
            <a:endParaRPr dirty="0" sz="1400" lang="en-US"/>
          </a:p>
        </p:txBody>
      </p:sp>
      <p:sp>
        <p:nvSpPr>
          <p:cNvPr id="1049824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14F52"/>
        </a:solidFill>
      </p:bgPr>
    </p:bg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28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829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830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34 / 50</a:t>
            </a:r>
            <a:endParaRPr dirty="0" sz="1000" lang="en-US"/>
          </a:p>
        </p:txBody>
      </p:sp>
      <p:sp>
        <p:nvSpPr>
          <p:cNvPr id="1049831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breastbone is called:</a:t>
            </a:r>
            <a:endParaRPr dirty="0" sz="1600" lang="en-US"/>
          </a:p>
        </p:txBody>
      </p:sp>
      <p:sp>
        <p:nvSpPr>
          <p:cNvPr id="1049832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833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834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835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Sternum</a:t>
            </a:r>
            <a:endParaRPr dirty="0" sz="2000" lang="en-US"/>
          </a:p>
        </p:txBody>
      </p:sp>
      <p:sp>
        <p:nvSpPr>
          <p:cNvPr id="1049836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837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838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sternum is the flat bone in the centre of the chest to which the ribs attach in front.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42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843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35 / 50</a:t>
            </a:r>
            <a:endParaRPr dirty="0" sz="1100" lang="en-US"/>
          </a:p>
        </p:txBody>
      </p:sp>
      <p:sp>
        <p:nvSpPr>
          <p:cNvPr id="1049844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Cartilage between ribs helps in:</a:t>
            </a:r>
            <a:endParaRPr dirty="0" sz="2500" lang="en-US"/>
          </a:p>
        </p:txBody>
      </p:sp>
      <p:sp>
        <p:nvSpPr>
          <p:cNvPr id="1049845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46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47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848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</a:t>
            </a:r>
            <a:endParaRPr dirty="0" sz="1400" lang="en-US"/>
          </a:p>
        </p:txBody>
      </p:sp>
      <p:sp>
        <p:nvSpPr>
          <p:cNvPr id="1049849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50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51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852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</a:t>
            </a:r>
            <a:endParaRPr dirty="0" sz="1400" lang="en-US"/>
          </a:p>
        </p:txBody>
      </p:sp>
      <p:sp>
        <p:nvSpPr>
          <p:cNvPr id="1049853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54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55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856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dirty="0" sz="1400" lang="en-US"/>
          </a:p>
        </p:txBody>
      </p:sp>
      <p:sp>
        <p:nvSpPr>
          <p:cNvPr id="1049857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58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59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860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</a:t>
            </a:r>
            <a:endParaRPr dirty="0" sz="1400" lang="en-US"/>
          </a:p>
        </p:txBody>
      </p:sp>
      <p:sp>
        <p:nvSpPr>
          <p:cNvPr id="1049861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14F52"/>
        </a:solidFill>
      </p:bgPr>
    </p:bg>
    <p:spTree>
      <p:nvGrpSpPr>
        <p:cNvPr id="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65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866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867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35 / 50</a:t>
            </a:r>
            <a:endParaRPr dirty="0" sz="1000" lang="en-US"/>
          </a:p>
        </p:txBody>
      </p:sp>
      <p:sp>
        <p:nvSpPr>
          <p:cNvPr id="1049868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 between ribs helps in:</a:t>
            </a:r>
            <a:endParaRPr dirty="0" sz="1600" lang="en-US"/>
          </a:p>
        </p:txBody>
      </p:sp>
      <p:sp>
        <p:nvSpPr>
          <p:cNvPr id="1049869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870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871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872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Breathing</a:t>
            </a:r>
            <a:endParaRPr dirty="0" sz="2000" lang="en-US"/>
          </a:p>
        </p:txBody>
      </p:sp>
      <p:sp>
        <p:nvSpPr>
          <p:cNvPr id="1049873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874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875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cartilage lets the rib cage expand and contract during breathing.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79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880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36 / 50</a:t>
            </a:r>
            <a:endParaRPr dirty="0" sz="1100" lang="en-US"/>
          </a:p>
        </p:txBody>
      </p:sp>
      <p:sp>
        <p:nvSpPr>
          <p:cNvPr id="1049881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activity improves flexibility according to the chapter?</a:t>
            </a:r>
            <a:endParaRPr dirty="0" sz="2500" lang="en-US"/>
          </a:p>
        </p:txBody>
      </p:sp>
      <p:sp>
        <p:nvSpPr>
          <p:cNvPr id="1049882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83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84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885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</a:t>
            </a:r>
            <a:endParaRPr dirty="0" sz="1400" lang="en-US"/>
          </a:p>
        </p:txBody>
      </p:sp>
      <p:sp>
        <p:nvSpPr>
          <p:cNvPr id="1049886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87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88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889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</a:t>
            </a:r>
            <a:endParaRPr dirty="0" sz="1400" lang="en-US"/>
          </a:p>
        </p:txBody>
      </p:sp>
      <p:sp>
        <p:nvSpPr>
          <p:cNvPr id="1049890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91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92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893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Cycling</a:t>
            </a:r>
            <a:endParaRPr dirty="0" sz="1400" lang="en-US"/>
          </a:p>
        </p:txBody>
      </p:sp>
      <p:sp>
        <p:nvSpPr>
          <p:cNvPr id="1049894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895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896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897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dirty="0" sz="1400" lang="en-US"/>
          </a:p>
        </p:txBody>
      </p:sp>
      <p:sp>
        <p:nvSpPr>
          <p:cNvPr id="1049898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14F52"/>
        </a:solidFill>
      </p:bgPr>
    </p:bg>
    <p:spTree>
      <p:nvGrpSpPr>
        <p:cNvPr id="3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02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903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904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36 / 50</a:t>
            </a:r>
            <a:endParaRPr dirty="0" sz="1000" lang="en-US"/>
          </a:p>
        </p:txBody>
      </p:sp>
      <p:sp>
        <p:nvSpPr>
          <p:cNvPr id="1049905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activity improves flexibility according to the chapter?</a:t>
            </a:r>
            <a:endParaRPr dirty="0" sz="1600" lang="en-US"/>
          </a:p>
        </p:txBody>
      </p:sp>
      <p:sp>
        <p:nvSpPr>
          <p:cNvPr id="1049906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907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908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909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Yoga</a:t>
            </a:r>
            <a:endParaRPr dirty="0" sz="2000" lang="en-US"/>
          </a:p>
        </p:txBody>
      </p:sp>
      <p:sp>
        <p:nvSpPr>
          <p:cNvPr id="1049910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911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912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involves stretching and holding postures, which improves the body's flexibility.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16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917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37 / 50</a:t>
            </a:r>
            <a:endParaRPr dirty="0" sz="1100" lang="en-US"/>
          </a:p>
        </p:txBody>
      </p:sp>
      <p:sp>
        <p:nvSpPr>
          <p:cNvPr id="1049918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scientist demonstrated plant cell totipotency?</a:t>
            </a:r>
            <a:endParaRPr dirty="0" sz="2500" lang="en-US"/>
          </a:p>
        </p:txBody>
      </p:sp>
      <p:sp>
        <p:nvSpPr>
          <p:cNvPr id="1049919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20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21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922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</a:t>
            </a:r>
            <a:endParaRPr dirty="0" sz="1400" lang="en-US"/>
          </a:p>
        </p:txBody>
      </p:sp>
      <p:sp>
        <p:nvSpPr>
          <p:cNvPr id="1049923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24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25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926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dirty="0" sz="1400" lang="en-US"/>
          </a:p>
        </p:txBody>
      </p:sp>
      <p:sp>
        <p:nvSpPr>
          <p:cNvPr id="1049927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28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29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930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C. Steward</a:t>
            </a:r>
            <a:endParaRPr dirty="0" sz="1400" lang="en-US"/>
          </a:p>
        </p:txBody>
      </p:sp>
      <p:sp>
        <p:nvSpPr>
          <p:cNvPr id="1049931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32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33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934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Pasteur</a:t>
            </a:r>
            <a:endParaRPr dirty="0" sz="1400" lang="en-US"/>
          </a:p>
        </p:txBody>
      </p:sp>
      <p:sp>
        <p:nvSpPr>
          <p:cNvPr id="1049935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14F52"/>
        </a:solidFill>
      </p:bgPr>
    </p:bg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39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940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941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37 / 50</a:t>
            </a:r>
            <a:endParaRPr dirty="0" sz="1000" lang="en-US"/>
          </a:p>
        </p:txBody>
      </p:sp>
      <p:sp>
        <p:nvSpPr>
          <p:cNvPr id="1049942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scientist demonstrated plant cell totipotency?</a:t>
            </a:r>
            <a:endParaRPr dirty="0" sz="1600" lang="en-US"/>
          </a:p>
        </p:txBody>
      </p:sp>
      <p:sp>
        <p:nvSpPr>
          <p:cNvPr id="1049943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944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945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49946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F. C. Steward</a:t>
            </a:r>
            <a:endParaRPr dirty="0" sz="2000" lang="en-US"/>
          </a:p>
        </p:txBody>
      </p:sp>
      <p:sp>
        <p:nvSpPr>
          <p:cNvPr id="1049947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948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949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C. Steward showed that a single carrot cell could grow into a complete new plant.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53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954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38 / 50</a:t>
            </a:r>
            <a:endParaRPr dirty="0" sz="1100" lang="en-US"/>
          </a:p>
        </p:txBody>
      </p:sp>
      <p:sp>
        <p:nvSpPr>
          <p:cNvPr id="1049955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Totipotency means:</a:t>
            </a:r>
            <a:endParaRPr dirty="0" sz="2500" lang="en-US"/>
          </a:p>
        </p:txBody>
      </p:sp>
      <p:sp>
        <p:nvSpPr>
          <p:cNvPr id="1049956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57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58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959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absorb water</a:t>
            </a:r>
            <a:endParaRPr dirty="0" sz="1400" lang="en-US"/>
          </a:p>
        </p:txBody>
      </p:sp>
      <p:sp>
        <p:nvSpPr>
          <p:cNvPr id="1049960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61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62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49963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of one cell to form a whole plant</a:t>
            </a:r>
            <a:endParaRPr dirty="0" sz="1400" lang="en-US"/>
          </a:p>
        </p:txBody>
      </p:sp>
      <p:sp>
        <p:nvSpPr>
          <p:cNvPr id="1049964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65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66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9967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produce oxygen</a:t>
            </a:r>
            <a:endParaRPr dirty="0" sz="1400" lang="en-US"/>
          </a:p>
        </p:txBody>
      </p:sp>
      <p:sp>
        <p:nvSpPr>
          <p:cNvPr id="1049968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69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70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49971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move</a:t>
            </a:r>
            <a:endParaRPr dirty="0" sz="1400" lang="en-US"/>
          </a:p>
        </p:txBody>
      </p:sp>
      <p:sp>
        <p:nvSpPr>
          <p:cNvPr id="1049972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14F52"/>
        </a:solidFill>
      </p:bgPr>
    </p:bg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76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49977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49978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38 / 50</a:t>
            </a:r>
            <a:endParaRPr dirty="0" sz="1000" lang="en-US"/>
          </a:p>
        </p:txBody>
      </p:sp>
      <p:sp>
        <p:nvSpPr>
          <p:cNvPr id="1049979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Totipotency means:</a:t>
            </a:r>
            <a:endParaRPr dirty="0" sz="1600" lang="en-US"/>
          </a:p>
        </p:txBody>
      </p:sp>
      <p:sp>
        <p:nvSpPr>
          <p:cNvPr id="1049980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49981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49982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49983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Ability of one cell to form a whole plant</a:t>
            </a:r>
            <a:endParaRPr dirty="0" sz="2000" lang="en-US"/>
          </a:p>
        </p:txBody>
      </p:sp>
      <p:sp>
        <p:nvSpPr>
          <p:cNvPr id="1049984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49985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49986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Totipotency is the capacity of a single living cell to develop into a full, complete organism.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90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49991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39 / 50</a:t>
            </a:r>
            <a:endParaRPr dirty="0" sz="1100" lang="en-US"/>
          </a:p>
        </p:txBody>
      </p:sp>
      <p:sp>
        <p:nvSpPr>
          <p:cNvPr id="1049992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Crown gall disease is caused by:</a:t>
            </a:r>
            <a:endParaRPr dirty="0" sz="2500" lang="en-US"/>
          </a:p>
        </p:txBody>
      </p:sp>
      <p:sp>
        <p:nvSpPr>
          <p:cNvPr id="1049993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94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95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49996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</a:t>
            </a:r>
            <a:endParaRPr dirty="0" sz="1400" lang="en-US"/>
          </a:p>
        </p:txBody>
      </p:sp>
      <p:sp>
        <p:nvSpPr>
          <p:cNvPr id="1049997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49998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49999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000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Fungus</a:t>
            </a:r>
            <a:endParaRPr dirty="0" sz="1400" lang="en-US"/>
          </a:p>
        </p:txBody>
      </p:sp>
      <p:sp>
        <p:nvSpPr>
          <p:cNvPr id="1050001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02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03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004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Bacterium</a:t>
            </a:r>
            <a:endParaRPr dirty="0" sz="1400" lang="en-US"/>
          </a:p>
        </p:txBody>
      </p:sp>
      <p:sp>
        <p:nvSpPr>
          <p:cNvPr id="1050005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06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07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008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Algae</a:t>
            </a:r>
            <a:endParaRPr dirty="0" sz="1400" lang="en-US"/>
          </a:p>
        </p:txBody>
      </p:sp>
      <p:sp>
        <p:nvSpPr>
          <p:cNvPr id="1050009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14F52"/>
        </a:solidFill>
      </p:bgPr>
    </p:bg>
    <p:spTree>
      <p:nvGrpSpPr>
        <p:cNvPr id="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13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014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015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39 / 50</a:t>
            </a:r>
            <a:endParaRPr dirty="0" sz="1000" lang="en-US"/>
          </a:p>
        </p:txBody>
      </p:sp>
      <p:sp>
        <p:nvSpPr>
          <p:cNvPr id="1050016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gall disease is caused by:</a:t>
            </a:r>
            <a:endParaRPr dirty="0" sz="1600" lang="en-US"/>
          </a:p>
        </p:txBody>
      </p:sp>
      <p:sp>
        <p:nvSpPr>
          <p:cNvPr id="1050017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018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019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50020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Bacterium</a:t>
            </a:r>
            <a:endParaRPr dirty="0" sz="2000" lang="en-US"/>
          </a:p>
        </p:txBody>
      </p:sp>
      <p:sp>
        <p:nvSpPr>
          <p:cNvPr id="1050021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022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023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gall disease in plants is caused by a bacterium that induces abnormal tissue growth.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3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27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028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40 / 50</a:t>
            </a:r>
            <a:endParaRPr dirty="0" sz="1100" lang="en-US"/>
          </a:p>
        </p:txBody>
      </p:sp>
      <p:sp>
        <p:nvSpPr>
          <p:cNvPr id="1050029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Crown gall disease is caused by:</a:t>
            </a:r>
            <a:endParaRPr dirty="0" sz="2500" lang="en-US"/>
          </a:p>
        </p:txBody>
      </p:sp>
      <p:sp>
        <p:nvSpPr>
          <p:cNvPr id="1050030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31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32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033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Rhizobium</a:t>
            </a:r>
            <a:endParaRPr dirty="0" sz="1400" lang="en-US"/>
          </a:p>
        </p:txBody>
      </p:sp>
      <p:sp>
        <p:nvSpPr>
          <p:cNvPr id="1050034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35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36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037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Agrobacterium tumefaciens</a:t>
            </a:r>
            <a:endParaRPr dirty="0" sz="1400" lang="en-US"/>
          </a:p>
        </p:txBody>
      </p:sp>
      <p:sp>
        <p:nvSpPr>
          <p:cNvPr id="1050038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39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40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041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Lactobacillus</a:t>
            </a:r>
            <a:endParaRPr dirty="0" sz="1400" lang="en-US"/>
          </a:p>
        </p:txBody>
      </p:sp>
      <p:sp>
        <p:nvSpPr>
          <p:cNvPr id="1050042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43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44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045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coli</a:t>
            </a:r>
            <a:endParaRPr dirty="0" sz="1400" lang="en-US"/>
          </a:p>
        </p:txBody>
      </p:sp>
      <p:sp>
        <p:nvSpPr>
          <p:cNvPr id="1050046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14F52"/>
        </a:solidFill>
      </p:bgPr>
    </p:bg>
    <p:spTree>
      <p:nvGrpSpPr>
        <p:cNvPr id="3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50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051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052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40 / 50</a:t>
            </a:r>
            <a:endParaRPr dirty="0" sz="1000" lang="en-US"/>
          </a:p>
        </p:txBody>
      </p:sp>
      <p:sp>
        <p:nvSpPr>
          <p:cNvPr id="1050053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gall disease is caused by:</a:t>
            </a:r>
            <a:endParaRPr dirty="0" sz="1600" lang="en-US"/>
          </a:p>
        </p:txBody>
      </p:sp>
      <p:sp>
        <p:nvSpPr>
          <p:cNvPr id="1050054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055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056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50057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Agrobacterium tumefaciens</a:t>
            </a:r>
            <a:endParaRPr dirty="0" sz="2000" lang="en-US"/>
          </a:p>
        </p:txBody>
      </p:sp>
      <p:sp>
        <p:nvSpPr>
          <p:cNvPr id="1050058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059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060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bacterium Agrobacterium tumefaciens causes tumour-like growths (galls) in plants.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3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64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065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41 / 50</a:t>
            </a:r>
            <a:endParaRPr dirty="0" sz="1100" lang="en-US"/>
          </a:p>
        </p:txBody>
      </p:sp>
      <p:sp>
        <p:nvSpPr>
          <p:cNvPr id="1050066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tissues are mainly of:</a:t>
            </a:r>
            <a:endParaRPr dirty="0" sz="2500" lang="en-US"/>
          </a:p>
        </p:txBody>
      </p:sp>
      <p:sp>
        <p:nvSpPr>
          <p:cNvPr id="1050067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68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69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070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</a:t>
            </a:r>
            <a:endParaRPr dirty="0" sz="1400" lang="en-US"/>
          </a:p>
        </p:txBody>
      </p:sp>
      <p:sp>
        <p:nvSpPr>
          <p:cNvPr id="1050071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72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73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074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</a:t>
            </a:r>
            <a:endParaRPr dirty="0" sz="1400" lang="en-US"/>
          </a:p>
        </p:txBody>
      </p:sp>
      <p:sp>
        <p:nvSpPr>
          <p:cNvPr id="1050075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76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77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078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</a:t>
            </a:r>
            <a:endParaRPr dirty="0" sz="1400" lang="en-US"/>
          </a:p>
        </p:txBody>
      </p:sp>
      <p:sp>
        <p:nvSpPr>
          <p:cNvPr id="1050079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080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081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082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types</a:t>
            </a:r>
            <a:endParaRPr dirty="0" sz="1400" lang="en-US"/>
          </a:p>
        </p:txBody>
      </p:sp>
      <p:sp>
        <p:nvSpPr>
          <p:cNvPr id="1050083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14F52"/>
        </a:solidFill>
      </p:bgPr>
    </p:bg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87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088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089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41 / 50</a:t>
            </a:r>
            <a:endParaRPr dirty="0" sz="1000" lang="en-US"/>
          </a:p>
        </p:txBody>
      </p:sp>
      <p:sp>
        <p:nvSpPr>
          <p:cNvPr id="1050090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tissues are mainly of:</a:t>
            </a:r>
            <a:endParaRPr dirty="0" sz="1600" lang="en-US"/>
          </a:p>
        </p:txBody>
      </p:sp>
      <p:sp>
        <p:nvSpPr>
          <p:cNvPr id="1050091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092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093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50094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types</a:t>
            </a:r>
            <a:endParaRPr dirty="0" sz="2000" lang="en-US"/>
          </a:p>
        </p:txBody>
      </p:sp>
      <p:sp>
        <p:nvSpPr>
          <p:cNvPr id="1050095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096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097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tissues are classified into four main types: epithelial, connective, muscular, and nervous.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3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01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102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42 / 50</a:t>
            </a:r>
            <a:endParaRPr dirty="0" sz="1100" lang="en-US"/>
          </a:p>
        </p:txBody>
      </p:sp>
      <p:sp>
        <p:nvSpPr>
          <p:cNvPr id="1050103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NOT an animal tissue?</a:t>
            </a:r>
            <a:endParaRPr dirty="0" sz="2500" lang="en-US"/>
          </a:p>
        </p:txBody>
      </p:sp>
      <p:sp>
        <p:nvSpPr>
          <p:cNvPr id="1050104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05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06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107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Epithelial</a:t>
            </a:r>
            <a:endParaRPr dirty="0" sz="1400" lang="en-US"/>
          </a:p>
        </p:txBody>
      </p:sp>
      <p:sp>
        <p:nvSpPr>
          <p:cNvPr id="1050108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09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10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111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</a:t>
            </a:r>
            <a:endParaRPr dirty="0" sz="1400" lang="en-US"/>
          </a:p>
        </p:txBody>
      </p:sp>
      <p:sp>
        <p:nvSpPr>
          <p:cNvPr id="1050112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13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14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115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Xylem</a:t>
            </a:r>
            <a:endParaRPr dirty="0" sz="1400" lang="en-US"/>
          </a:p>
        </p:txBody>
      </p:sp>
      <p:sp>
        <p:nvSpPr>
          <p:cNvPr id="1050116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17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18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119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</a:t>
            </a:r>
            <a:endParaRPr dirty="0" sz="1400" lang="en-US"/>
          </a:p>
        </p:txBody>
      </p:sp>
      <p:sp>
        <p:nvSpPr>
          <p:cNvPr id="1050120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14F52"/>
        </a:solidFill>
      </p:bgPr>
    </p:bg>
    <p:spTree>
      <p:nvGrpSpPr>
        <p:cNvPr id="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24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125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126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42 / 50</a:t>
            </a:r>
            <a:endParaRPr dirty="0" sz="1000" lang="en-US"/>
          </a:p>
        </p:txBody>
      </p:sp>
      <p:sp>
        <p:nvSpPr>
          <p:cNvPr id="1050127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an animal tissue?</a:t>
            </a:r>
            <a:endParaRPr dirty="0" sz="1600" lang="en-US"/>
          </a:p>
        </p:txBody>
      </p:sp>
      <p:sp>
        <p:nvSpPr>
          <p:cNvPr id="1050128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129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130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50131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Xylem</a:t>
            </a:r>
            <a:endParaRPr dirty="0" sz="2000" lang="en-US"/>
          </a:p>
        </p:txBody>
      </p:sp>
      <p:sp>
        <p:nvSpPr>
          <p:cNvPr id="1050132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133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134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Xylem is a plant tissue used for water transport, not an animal tissue.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38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139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43 / 50</a:t>
            </a:r>
            <a:endParaRPr dirty="0" sz="1100" lang="en-US"/>
          </a:p>
        </p:txBody>
      </p:sp>
      <p:sp>
        <p:nvSpPr>
          <p:cNvPr id="1050140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tissue covers the body surface?</a:t>
            </a:r>
            <a:endParaRPr dirty="0" sz="2500" lang="en-US"/>
          </a:p>
        </p:txBody>
      </p:sp>
      <p:sp>
        <p:nvSpPr>
          <p:cNvPr id="1050141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42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43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144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</a:t>
            </a:r>
            <a:endParaRPr dirty="0" sz="1400" lang="en-US"/>
          </a:p>
        </p:txBody>
      </p:sp>
      <p:sp>
        <p:nvSpPr>
          <p:cNvPr id="1050145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46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47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148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Epithelial</a:t>
            </a:r>
            <a:endParaRPr dirty="0" sz="1400" lang="en-US"/>
          </a:p>
        </p:txBody>
      </p:sp>
      <p:sp>
        <p:nvSpPr>
          <p:cNvPr id="1050149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50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51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152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</a:t>
            </a:r>
            <a:endParaRPr dirty="0" sz="1400" lang="en-US"/>
          </a:p>
        </p:txBody>
      </p:sp>
      <p:sp>
        <p:nvSpPr>
          <p:cNvPr id="1050153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54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55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156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</a:t>
            </a:r>
            <a:endParaRPr dirty="0" sz="1400" lang="en-US"/>
          </a:p>
        </p:txBody>
      </p:sp>
      <p:sp>
        <p:nvSpPr>
          <p:cNvPr id="1050157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14F52"/>
        </a:solidFill>
      </p:bgPr>
    </p:bg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61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162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163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43 / 50</a:t>
            </a:r>
            <a:endParaRPr dirty="0" sz="1000" lang="en-US"/>
          </a:p>
        </p:txBody>
      </p:sp>
      <p:sp>
        <p:nvSpPr>
          <p:cNvPr id="1050164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tissue covers the body surface?</a:t>
            </a:r>
            <a:endParaRPr dirty="0" sz="1600" lang="en-US"/>
          </a:p>
        </p:txBody>
      </p:sp>
      <p:sp>
        <p:nvSpPr>
          <p:cNvPr id="1050165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166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167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50168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Epithelial</a:t>
            </a:r>
            <a:endParaRPr dirty="0" sz="2000" lang="en-US"/>
          </a:p>
        </p:txBody>
      </p:sp>
      <p:sp>
        <p:nvSpPr>
          <p:cNvPr id="1050169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170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171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Epithelial tissue forms a protective covering over the body's surface and organs.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75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176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44 / 50</a:t>
            </a:r>
            <a:endParaRPr dirty="0" sz="1100" lang="en-US"/>
          </a:p>
        </p:txBody>
      </p:sp>
      <p:sp>
        <p:nvSpPr>
          <p:cNvPr id="1050177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tissue transports water in plants?</a:t>
            </a:r>
            <a:endParaRPr dirty="0" sz="2500" lang="en-US"/>
          </a:p>
        </p:txBody>
      </p:sp>
      <p:sp>
        <p:nvSpPr>
          <p:cNvPr id="1050178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79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80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181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Phloem</a:t>
            </a:r>
            <a:endParaRPr dirty="0" sz="1400" lang="en-US"/>
          </a:p>
        </p:txBody>
      </p:sp>
      <p:sp>
        <p:nvSpPr>
          <p:cNvPr id="1050182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83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84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185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Xylem</a:t>
            </a:r>
            <a:endParaRPr dirty="0" sz="1400" lang="en-US"/>
          </a:p>
        </p:txBody>
      </p:sp>
      <p:sp>
        <p:nvSpPr>
          <p:cNvPr id="1050186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87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88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189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Parenchyma</a:t>
            </a:r>
            <a:endParaRPr dirty="0" sz="1400" lang="en-US"/>
          </a:p>
        </p:txBody>
      </p:sp>
      <p:sp>
        <p:nvSpPr>
          <p:cNvPr id="1050190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191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192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193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Collenchyma</a:t>
            </a:r>
            <a:endParaRPr dirty="0" sz="1400" lang="en-US"/>
          </a:p>
        </p:txBody>
      </p:sp>
      <p:sp>
        <p:nvSpPr>
          <p:cNvPr id="1050194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14F52"/>
        </a:solidFill>
      </p:bgPr>
    </p:bg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98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199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200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44 / 50</a:t>
            </a:r>
            <a:endParaRPr dirty="0" sz="1000" lang="en-US"/>
          </a:p>
        </p:txBody>
      </p:sp>
      <p:sp>
        <p:nvSpPr>
          <p:cNvPr id="1050201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tissue transports water in plants?</a:t>
            </a:r>
            <a:endParaRPr dirty="0" sz="1600" lang="en-US"/>
          </a:p>
        </p:txBody>
      </p:sp>
      <p:sp>
        <p:nvSpPr>
          <p:cNvPr id="1050202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203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204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50205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Xylem</a:t>
            </a:r>
            <a:endParaRPr dirty="0" sz="2000" lang="en-US"/>
          </a:p>
        </p:txBody>
      </p:sp>
      <p:sp>
        <p:nvSpPr>
          <p:cNvPr id="1050206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207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208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Xylem tissue conducts water and minerals upward from the roots to the rest of the plant.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3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12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213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45 / 50</a:t>
            </a:r>
            <a:endParaRPr dirty="0" sz="1100" lang="en-US"/>
          </a:p>
        </p:txBody>
      </p:sp>
      <p:sp>
        <p:nvSpPr>
          <p:cNvPr id="1050214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tissue transports food in plants?</a:t>
            </a:r>
            <a:endParaRPr dirty="0" sz="2500" lang="en-US"/>
          </a:p>
        </p:txBody>
      </p:sp>
      <p:sp>
        <p:nvSpPr>
          <p:cNvPr id="1050215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16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17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218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Xylem</a:t>
            </a:r>
            <a:endParaRPr dirty="0" sz="1400" lang="en-US"/>
          </a:p>
        </p:txBody>
      </p:sp>
      <p:sp>
        <p:nvSpPr>
          <p:cNvPr id="1050219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20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21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222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Phloem</a:t>
            </a:r>
            <a:endParaRPr dirty="0" sz="1400" lang="en-US"/>
          </a:p>
        </p:txBody>
      </p:sp>
      <p:sp>
        <p:nvSpPr>
          <p:cNvPr id="1050223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24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25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226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Sclerenchyma</a:t>
            </a:r>
            <a:endParaRPr dirty="0" sz="1400" lang="en-US"/>
          </a:p>
        </p:txBody>
      </p:sp>
      <p:sp>
        <p:nvSpPr>
          <p:cNvPr id="1050227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28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29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230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Epidermis</a:t>
            </a:r>
            <a:endParaRPr dirty="0" sz="1400" lang="en-US"/>
          </a:p>
        </p:txBody>
      </p:sp>
      <p:sp>
        <p:nvSpPr>
          <p:cNvPr id="1050231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14F52"/>
        </a:solidFill>
      </p:bgPr>
    </p:bg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35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236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237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45 / 50</a:t>
            </a:r>
            <a:endParaRPr dirty="0" sz="1000" lang="en-US"/>
          </a:p>
        </p:txBody>
      </p:sp>
      <p:sp>
        <p:nvSpPr>
          <p:cNvPr id="1050238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tissue transports food in plants?</a:t>
            </a:r>
            <a:endParaRPr dirty="0" sz="1600" lang="en-US"/>
          </a:p>
        </p:txBody>
      </p:sp>
      <p:sp>
        <p:nvSpPr>
          <p:cNvPr id="1050239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240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241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50242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Phloem</a:t>
            </a:r>
            <a:endParaRPr dirty="0" sz="2000" lang="en-US"/>
          </a:p>
        </p:txBody>
      </p:sp>
      <p:sp>
        <p:nvSpPr>
          <p:cNvPr id="1050243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244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245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Phloem transports prepared food (sugars) from leaves to other parts of the plant.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3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49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250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46 / 50</a:t>
            </a:r>
            <a:endParaRPr dirty="0" sz="1100" lang="en-US"/>
          </a:p>
        </p:txBody>
      </p:sp>
      <p:sp>
        <p:nvSpPr>
          <p:cNvPr id="1050251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these is a simple permanent tissue?</a:t>
            </a:r>
            <a:endParaRPr dirty="0" sz="2500" lang="en-US"/>
          </a:p>
        </p:txBody>
      </p:sp>
      <p:sp>
        <p:nvSpPr>
          <p:cNvPr id="1050252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53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54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255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Xylem</a:t>
            </a:r>
            <a:endParaRPr dirty="0" sz="1400" lang="en-US"/>
          </a:p>
        </p:txBody>
      </p:sp>
      <p:sp>
        <p:nvSpPr>
          <p:cNvPr id="1050256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57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58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259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Phloem</a:t>
            </a:r>
            <a:endParaRPr dirty="0" sz="1400" lang="en-US"/>
          </a:p>
        </p:txBody>
      </p:sp>
      <p:sp>
        <p:nvSpPr>
          <p:cNvPr id="1050260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61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62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263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Parenchyma</a:t>
            </a:r>
            <a:endParaRPr dirty="0" sz="1400" lang="en-US"/>
          </a:p>
        </p:txBody>
      </p:sp>
      <p:sp>
        <p:nvSpPr>
          <p:cNvPr id="1050264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65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66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267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dirty="0" sz="1400" lang="en-US"/>
          </a:p>
        </p:txBody>
      </p:sp>
      <p:sp>
        <p:nvSpPr>
          <p:cNvPr id="1050268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14F52"/>
        </a:solidFill>
      </p:bgPr>
    </p:bg>
    <p:spTree>
      <p:nvGrpSpPr>
        <p:cNvPr id="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72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273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274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46 / 50</a:t>
            </a:r>
            <a:endParaRPr dirty="0" sz="1000" lang="en-US"/>
          </a:p>
        </p:txBody>
      </p:sp>
      <p:sp>
        <p:nvSpPr>
          <p:cNvPr id="1050275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a simple permanent tissue?</a:t>
            </a:r>
            <a:endParaRPr dirty="0" sz="1600" lang="en-US"/>
          </a:p>
        </p:txBody>
      </p:sp>
      <p:sp>
        <p:nvSpPr>
          <p:cNvPr id="1050276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277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278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50279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Parenchyma</a:t>
            </a:r>
            <a:endParaRPr dirty="0" sz="2000" lang="en-US"/>
          </a:p>
        </p:txBody>
      </p:sp>
      <p:sp>
        <p:nvSpPr>
          <p:cNvPr id="1050280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281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282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Parenchyma is a simple permanent tissue made of similar, thin-walled living cells.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86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287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47 / 50</a:t>
            </a:r>
            <a:endParaRPr dirty="0" sz="1100" lang="en-US"/>
          </a:p>
        </p:txBody>
      </p:sp>
      <p:sp>
        <p:nvSpPr>
          <p:cNvPr id="1050288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a complex permanent tissue?</a:t>
            </a:r>
            <a:endParaRPr dirty="0" sz="2500" lang="en-US"/>
          </a:p>
        </p:txBody>
      </p:sp>
      <p:sp>
        <p:nvSpPr>
          <p:cNvPr id="1050289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90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91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292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Parenchyma</a:t>
            </a:r>
            <a:endParaRPr dirty="0" sz="1400" lang="en-US"/>
          </a:p>
        </p:txBody>
      </p:sp>
      <p:sp>
        <p:nvSpPr>
          <p:cNvPr id="1050293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94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95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296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Collenchyma</a:t>
            </a:r>
            <a:endParaRPr dirty="0" sz="1400" lang="en-US"/>
          </a:p>
        </p:txBody>
      </p:sp>
      <p:sp>
        <p:nvSpPr>
          <p:cNvPr id="1050297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298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299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300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Sclerenchyma</a:t>
            </a:r>
            <a:endParaRPr dirty="0" sz="1400" lang="en-US"/>
          </a:p>
        </p:txBody>
      </p:sp>
      <p:sp>
        <p:nvSpPr>
          <p:cNvPr id="1050301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302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303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304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Xylem</a:t>
            </a:r>
            <a:endParaRPr dirty="0" sz="1400" lang="en-US"/>
          </a:p>
        </p:txBody>
      </p:sp>
      <p:sp>
        <p:nvSpPr>
          <p:cNvPr id="1050305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14F52"/>
        </a:solidFill>
      </p:bgPr>
    </p:bg>
    <p:spTree>
      <p:nvGrpSpPr>
        <p:cNvPr id="3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09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310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311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47 / 50</a:t>
            </a:r>
            <a:endParaRPr dirty="0" sz="1000" lang="en-US"/>
          </a:p>
        </p:txBody>
      </p:sp>
      <p:sp>
        <p:nvSpPr>
          <p:cNvPr id="1050312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complex permanent tissue?</a:t>
            </a:r>
            <a:endParaRPr dirty="0" sz="1600" lang="en-US"/>
          </a:p>
        </p:txBody>
      </p:sp>
      <p:sp>
        <p:nvSpPr>
          <p:cNvPr id="1050313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314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315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800" lang="en-US"/>
          </a:p>
        </p:txBody>
      </p:sp>
      <p:sp>
        <p:nvSpPr>
          <p:cNvPr id="1050316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Xylem</a:t>
            </a:r>
            <a:endParaRPr dirty="0" sz="2000" lang="en-US"/>
          </a:p>
        </p:txBody>
      </p:sp>
      <p:sp>
        <p:nvSpPr>
          <p:cNvPr id="1050317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318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319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Xylem is a complex tissue made of more than one type of cell working together for transport.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23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324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48 / 50</a:t>
            </a:r>
            <a:endParaRPr dirty="0" sz="1100" lang="en-US"/>
          </a:p>
        </p:txBody>
      </p:sp>
      <p:sp>
        <p:nvSpPr>
          <p:cNvPr id="1050325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 in our body occurs due to coordination between:</a:t>
            </a:r>
            <a:endParaRPr dirty="0" sz="2500" lang="en-US"/>
          </a:p>
        </p:txBody>
      </p:sp>
      <p:sp>
        <p:nvSpPr>
          <p:cNvPr id="1050326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327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328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329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only</a:t>
            </a:r>
            <a:endParaRPr dirty="0" sz="1400" lang="en-US"/>
          </a:p>
        </p:txBody>
      </p:sp>
      <p:sp>
        <p:nvSpPr>
          <p:cNvPr id="1050330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331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332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333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only</a:t>
            </a:r>
            <a:endParaRPr dirty="0" sz="1400" lang="en-US"/>
          </a:p>
        </p:txBody>
      </p:sp>
      <p:sp>
        <p:nvSpPr>
          <p:cNvPr id="1050334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335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336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337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and bones</a:t>
            </a:r>
            <a:endParaRPr dirty="0" sz="1400" lang="en-US"/>
          </a:p>
        </p:txBody>
      </p:sp>
      <p:sp>
        <p:nvSpPr>
          <p:cNvPr id="1050338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339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340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341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and nerves</a:t>
            </a:r>
            <a:endParaRPr dirty="0" sz="1400" lang="en-US"/>
          </a:p>
        </p:txBody>
      </p:sp>
      <p:sp>
        <p:nvSpPr>
          <p:cNvPr id="1050342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14F52"/>
        </a:solidFill>
      </p:bgPr>
    </p:bg>
    <p:spTree>
      <p:nvGrpSpPr>
        <p:cNvPr id="3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46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347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348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48 / 50</a:t>
            </a:r>
            <a:endParaRPr dirty="0" sz="1000" lang="en-US"/>
          </a:p>
        </p:txBody>
      </p:sp>
      <p:sp>
        <p:nvSpPr>
          <p:cNvPr id="1050349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in our body occurs due to coordination between:</a:t>
            </a:r>
            <a:endParaRPr dirty="0" sz="1600" lang="en-US"/>
          </a:p>
        </p:txBody>
      </p:sp>
      <p:sp>
        <p:nvSpPr>
          <p:cNvPr id="1050350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351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352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50353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Muscles and bones</a:t>
            </a:r>
            <a:endParaRPr dirty="0" sz="2000" lang="en-US"/>
          </a:p>
        </p:txBody>
      </p:sp>
      <p:sp>
        <p:nvSpPr>
          <p:cNvPr id="1050354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355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356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contract and pull on bones, and this coordinated action produces body movement.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60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361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49 / 50</a:t>
            </a:r>
            <a:endParaRPr dirty="0" sz="1100" lang="en-US"/>
          </a:p>
        </p:txBody>
      </p:sp>
      <p:sp>
        <p:nvSpPr>
          <p:cNvPr id="1050362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tissue receives and transmits nerve impulses?</a:t>
            </a:r>
            <a:endParaRPr dirty="0" sz="2500" lang="en-US"/>
          </a:p>
        </p:txBody>
      </p:sp>
      <p:sp>
        <p:nvSpPr>
          <p:cNvPr id="1050363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364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365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366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 tissue</a:t>
            </a:r>
            <a:endParaRPr dirty="0" sz="1400" lang="en-US"/>
          </a:p>
        </p:txBody>
      </p:sp>
      <p:sp>
        <p:nvSpPr>
          <p:cNvPr id="1050367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368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369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370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tissue</a:t>
            </a:r>
            <a:endParaRPr dirty="0" sz="1400" lang="en-US"/>
          </a:p>
        </p:txBody>
      </p:sp>
      <p:sp>
        <p:nvSpPr>
          <p:cNvPr id="1050371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372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373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374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 tissue</a:t>
            </a:r>
            <a:endParaRPr dirty="0" sz="1400" lang="en-US"/>
          </a:p>
        </p:txBody>
      </p:sp>
      <p:sp>
        <p:nvSpPr>
          <p:cNvPr id="1050375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376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377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378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Epithelial tissue</a:t>
            </a:r>
            <a:endParaRPr dirty="0" sz="1400" lang="en-US"/>
          </a:p>
        </p:txBody>
      </p:sp>
      <p:sp>
        <p:nvSpPr>
          <p:cNvPr id="1050379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14F52"/>
        </a:solidFill>
      </p:bgPr>
    </p:bg>
    <p:spTree>
      <p:nvGrpSpPr>
        <p:cNvPr id="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83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384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385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49 / 50</a:t>
            </a:r>
            <a:endParaRPr dirty="0" sz="1000" lang="en-US"/>
          </a:p>
        </p:txBody>
      </p:sp>
      <p:sp>
        <p:nvSpPr>
          <p:cNvPr id="1050386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tissue receives and transmits nerve impulses?</a:t>
            </a:r>
            <a:endParaRPr dirty="0" sz="1600" lang="en-US"/>
          </a:p>
        </p:txBody>
      </p:sp>
      <p:sp>
        <p:nvSpPr>
          <p:cNvPr id="1050387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388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389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800" lang="en-US"/>
          </a:p>
        </p:txBody>
      </p:sp>
      <p:sp>
        <p:nvSpPr>
          <p:cNvPr id="1050390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Nervous tissue</a:t>
            </a:r>
            <a:endParaRPr dirty="0" sz="2000" lang="en-US"/>
          </a:p>
        </p:txBody>
      </p:sp>
      <p:sp>
        <p:nvSpPr>
          <p:cNvPr id="1050391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392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393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tissue, made of neurons, is specialised to receive and transmit nerve impulses.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4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97" name="Shape 0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0F9F8"/>
          </a:solidFill>
        </p:spPr>
      </p:sp>
      <p:sp>
        <p:nvSpPr>
          <p:cNvPr id="1050398" name="Text 1"/>
          <p:cNvSpPr/>
          <p:nvPr/>
        </p:nvSpPr>
        <p:spPr>
          <a:xfrm>
            <a:off x="457200" y="365760"/>
            <a:ext cx="182880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50 / 50</a:t>
            </a:r>
            <a:endParaRPr dirty="0" sz="1100" lang="en-US"/>
          </a:p>
        </p:txBody>
      </p:sp>
      <p:sp>
        <p:nvSpPr>
          <p:cNvPr id="1050399" name="Text 2"/>
          <p:cNvSpPr/>
          <p:nvPr/>
        </p:nvSpPr>
        <p:spPr>
          <a:xfrm>
            <a:off x="548640" y="960120"/>
            <a:ext cx="804672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500" lang="en-US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tissue mainly provides support and connects organs?</a:t>
            </a:r>
            <a:endParaRPr dirty="0" sz="2500" lang="en-US"/>
          </a:p>
        </p:txBody>
      </p:sp>
      <p:sp>
        <p:nvSpPr>
          <p:cNvPr id="1050400" name="Shape 3"/>
          <p:cNvSpPr/>
          <p:nvPr/>
        </p:nvSpPr>
        <p:spPr>
          <a:xfrm>
            <a:off x="54864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401" name="Shape 4"/>
          <p:cNvSpPr/>
          <p:nvPr/>
        </p:nvSpPr>
        <p:spPr>
          <a:xfrm>
            <a:off x="71323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402" name="Text 5"/>
          <p:cNvSpPr/>
          <p:nvPr/>
        </p:nvSpPr>
        <p:spPr>
          <a:xfrm>
            <a:off x="71323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600" lang="en-US"/>
          </a:p>
        </p:txBody>
      </p:sp>
      <p:sp>
        <p:nvSpPr>
          <p:cNvPr id="1050403" name="Text 6"/>
          <p:cNvSpPr/>
          <p:nvPr/>
        </p:nvSpPr>
        <p:spPr>
          <a:xfrm>
            <a:off x="132588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tissue</a:t>
            </a:r>
            <a:endParaRPr dirty="0" sz="1400" lang="en-US"/>
          </a:p>
        </p:txBody>
      </p:sp>
      <p:sp>
        <p:nvSpPr>
          <p:cNvPr id="1050404" name="Shape 7"/>
          <p:cNvSpPr/>
          <p:nvPr/>
        </p:nvSpPr>
        <p:spPr>
          <a:xfrm>
            <a:off x="4709160" y="2331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405" name="Shape 8"/>
          <p:cNvSpPr/>
          <p:nvPr/>
        </p:nvSpPr>
        <p:spPr>
          <a:xfrm>
            <a:off x="4873752" y="253746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406" name="Text 9"/>
          <p:cNvSpPr/>
          <p:nvPr/>
        </p:nvSpPr>
        <p:spPr>
          <a:xfrm>
            <a:off x="4873752" y="25374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600" lang="en-US"/>
          </a:p>
        </p:txBody>
      </p:sp>
      <p:sp>
        <p:nvSpPr>
          <p:cNvPr id="1050407" name="Text 10"/>
          <p:cNvSpPr/>
          <p:nvPr/>
        </p:nvSpPr>
        <p:spPr>
          <a:xfrm>
            <a:off x="5486400" y="233172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 tissue</a:t>
            </a:r>
            <a:endParaRPr dirty="0" sz="1400" lang="en-US"/>
          </a:p>
        </p:txBody>
      </p:sp>
      <p:sp>
        <p:nvSpPr>
          <p:cNvPr id="1050408" name="Shape 11"/>
          <p:cNvSpPr/>
          <p:nvPr/>
        </p:nvSpPr>
        <p:spPr>
          <a:xfrm>
            <a:off x="54864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409" name="Shape 12"/>
          <p:cNvSpPr/>
          <p:nvPr/>
        </p:nvSpPr>
        <p:spPr>
          <a:xfrm>
            <a:off x="71323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410" name="Text 13"/>
          <p:cNvSpPr/>
          <p:nvPr/>
        </p:nvSpPr>
        <p:spPr>
          <a:xfrm>
            <a:off x="71323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50411" name="Text 14"/>
          <p:cNvSpPr/>
          <p:nvPr/>
        </p:nvSpPr>
        <p:spPr>
          <a:xfrm>
            <a:off x="132588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 tissue</a:t>
            </a:r>
            <a:endParaRPr dirty="0" sz="1400" lang="en-US"/>
          </a:p>
        </p:txBody>
      </p:sp>
      <p:sp>
        <p:nvSpPr>
          <p:cNvPr id="1050412" name="Shape 15"/>
          <p:cNvSpPr/>
          <p:nvPr/>
        </p:nvSpPr>
        <p:spPr>
          <a:xfrm>
            <a:off x="4709160" y="33832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0F9F8"/>
          </a:solidFill>
          <a:ln w="12700">
            <a:solidFill>
              <a:srgbClr val="D8ECEA"/>
            </a:solidFill>
            <a:prstDash val="solid"/>
          </a:ln>
          <a:effectLst>
            <a:outerShdw algn="bl" blurRad="50800" dir="5400000" dist="12700" kx="0" ky="0" rotWithShape="0" sx="100000" sy="100000">
              <a:srgbClr val="000000">
                <a:alpha val="6000"/>
              </a:srgbClr>
            </a:outerShdw>
          </a:effectLst>
        </p:spPr>
      </p:sp>
      <p:sp>
        <p:nvSpPr>
          <p:cNvPr id="1050413" name="Shape 16"/>
          <p:cNvSpPr/>
          <p:nvPr/>
        </p:nvSpPr>
        <p:spPr>
          <a:xfrm>
            <a:off x="4873752" y="3589020"/>
            <a:ext cx="457200" cy="457200"/>
          </a:xfrm>
          <a:prstGeom prst="ellipse"/>
          <a:solidFill>
            <a:srgbClr val="00A896"/>
          </a:solidFill>
        </p:spPr>
      </p:sp>
      <p:sp>
        <p:nvSpPr>
          <p:cNvPr id="1050414" name="Text 17"/>
          <p:cNvSpPr/>
          <p:nvPr/>
        </p:nvSpPr>
        <p:spPr>
          <a:xfrm>
            <a:off x="4873752" y="35890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600" lang="en-US"/>
          </a:p>
        </p:txBody>
      </p:sp>
      <p:sp>
        <p:nvSpPr>
          <p:cNvPr id="1050415" name="Text 18"/>
          <p:cNvSpPr/>
          <p:nvPr/>
        </p:nvSpPr>
        <p:spPr>
          <a:xfrm>
            <a:off x="5486400" y="3383280"/>
            <a:ext cx="2971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Epithelial tissue</a:t>
            </a:r>
            <a:endParaRPr dirty="0" sz="1400" lang="en-US"/>
          </a:p>
        </p:txBody>
      </p:sp>
      <p:sp>
        <p:nvSpPr>
          <p:cNvPr id="1050416" name="Text 19"/>
          <p:cNvSpPr/>
          <p:nvPr/>
        </p:nvSpPr>
        <p:spPr>
          <a:xfrm>
            <a:off x="548640" y="480060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Movement &amp; Circulation</a:t>
            </a:r>
            <a:endParaRPr dirty="0" sz="1000"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14F52"/>
        </a:solidFill>
      </p:bgPr>
    </p:bg>
    <p:spTree>
      <p:nvGrpSpPr>
        <p:cNvPr id="4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20" name="Shape 0"/>
          <p:cNvSpPr/>
          <p:nvPr/>
        </p:nvSpPr>
        <p:spPr>
          <a:xfrm>
            <a:off x="-1097280" y="-1280160"/>
            <a:ext cx="2743200" cy="2743200"/>
          </a:xfrm>
          <a:prstGeom prst="ellipse"/>
          <a:solidFill>
            <a:srgbClr val="028090">
              <a:alpha val="55000"/>
            </a:srgbClr>
          </a:solidFill>
        </p:spPr>
      </p:sp>
      <p:sp>
        <p:nvSpPr>
          <p:cNvPr id="1050421" name="Shape 1"/>
          <p:cNvSpPr/>
          <p:nvPr/>
        </p:nvSpPr>
        <p:spPr>
          <a:xfrm>
            <a:off x="457200" y="365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</p:spPr>
      </p:sp>
      <p:sp>
        <p:nvSpPr>
          <p:cNvPr id="1050422" name="Text 2"/>
          <p:cNvSpPr/>
          <p:nvPr/>
        </p:nvSpPr>
        <p:spPr>
          <a:xfrm>
            <a:off x="457200" y="36576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50 / 50</a:t>
            </a:r>
            <a:endParaRPr dirty="0" sz="1000" lang="en-US"/>
          </a:p>
        </p:txBody>
      </p:sp>
      <p:sp>
        <p:nvSpPr>
          <p:cNvPr id="1050423" name="Text 3"/>
          <p:cNvSpPr/>
          <p:nvPr/>
        </p:nvSpPr>
        <p:spPr>
          <a:xfrm>
            <a:off x="548640" y="914400"/>
            <a:ext cx="804672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tissue mainly provides support and connects organs?</a:t>
            </a:r>
            <a:endParaRPr dirty="0" sz="1600" lang="en-US"/>
          </a:p>
        </p:txBody>
      </p:sp>
      <p:sp>
        <p:nvSpPr>
          <p:cNvPr id="1050424" name="Shape 4"/>
          <p:cNvSpPr/>
          <p:nvPr/>
        </p:nvSpPr>
        <p:spPr>
          <a:xfrm>
            <a:off x="548640" y="1691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2C39A"/>
          </a:solidFill>
        </p:spPr>
      </p:sp>
      <p:sp>
        <p:nvSpPr>
          <p:cNvPr id="1050425" name="Shape 5"/>
          <p:cNvSpPr/>
          <p:nvPr/>
        </p:nvSpPr>
        <p:spPr>
          <a:xfrm>
            <a:off x="777240" y="1874520"/>
            <a:ext cx="502920" cy="502920"/>
          </a:xfrm>
          <a:prstGeom prst="ellipse"/>
          <a:solidFill>
            <a:srgbClr val="014F52"/>
          </a:solidFill>
        </p:spPr>
      </p:sp>
      <p:sp>
        <p:nvSpPr>
          <p:cNvPr id="1050426" name="Text 6"/>
          <p:cNvSpPr/>
          <p:nvPr/>
        </p:nvSpPr>
        <p:spPr>
          <a:xfrm>
            <a:off x="777240" y="18745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800" lang="en-US"/>
          </a:p>
        </p:txBody>
      </p:sp>
      <p:sp>
        <p:nvSpPr>
          <p:cNvPr id="1050427" name="Text 7"/>
          <p:cNvSpPr/>
          <p:nvPr/>
        </p:nvSpPr>
        <p:spPr>
          <a:xfrm>
            <a:off x="1463040" y="1691640"/>
            <a:ext cx="694944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1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Connective tissue</a:t>
            </a:r>
            <a:endParaRPr dirty="0" sz="2000" lang="en-US"/>
          </a:p>
        </p:txBody>
      </p:sp>
      <p:sp>
        <p:nvSpPr>
          <p:cNvPr id="1050428" name="Shape 8"/>
          <p:cNvSpPr/>
          <p:nvPr/>
        </p:nvSpPr>
        <p:spPr>
          <a:xfrm>
            <a:off x="548640" y="2880360"/>
            <a:ext cx="80467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94000"/>
            </a:srgbClr>
          </a:solidFill>
        </p:spPr>
      </p:sp>
      <p:sp>
        <p:nvSpPr>
          <p:cNvPr id="1050429" name="Text 9"/>
          <p:cNvSpPr/>
          <p:nvPr/>
        </p:nvSpPr>
        <p:spPr>
          <a:xfrm>
            <a:off x="822960" y="3063240"/>
            <a:ext cx="7498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dirty="0" sz="1100" lang="en-US"/>
          </a:p>
        </p:txBody>
      </p:sp>
      <p:sp>
        <p:nvSpPr>
          <p:cNvPr id="1050430" name="Text 10"/>
          <p:cNvSpPr/>
          <p:nvPr/>
        </p:nvSpPr>
        <p:spPr>
          <a:xfrm>
            <a:off x="822960" y="3383280"/>
            <a:ext cx="7498080" cy="12801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 tissue (like bone, cartilage, and blood) binds and supports other tissues and organs.</a:t>
            </a:r>
            <a:endParaRPr dirty="0" sz="15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Human Body: Tissues, Bones &amp; Blood - Quiz</dc:title>
  <dc:creator>Student</dc:creator>
  <cp:lastModifiedBy>Student</cp:lastModifiedBy>
  <dcterms:created xsi:type="dcterms:W3CDTF">2026-07-08T05:20:51Z</dcterms:created>
  <dcterms:modified xsi:type="dcterms:W3CDTF">2026-07-11T04:29:41Z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8b36fb383bca42a99770ce28b5a85222</vt:lpwstr>
  </property>
</Properties>
</file>